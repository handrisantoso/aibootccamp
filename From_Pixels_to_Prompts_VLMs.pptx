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(0:00). Welcome. Frame the arc: from raw pixels to prompting and tuning modern VLMs. Conceptual with light math, examples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(1:00). Walk the 7 stops. Emphasize the single thread: every method is a better answer to 'how do we turn numbers into meaning?'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 (2:00). Brief self-intro. 25+ years across deep learning, computer vision, ICS/OT security and industrial IoT; PhD Nagaoka (Japan) on pedestrian attribute recognition. Keep it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(3:00). Contrast old vs new. Old world narrow and hand-built; VLMs general and promptable. The shift the whole talk explains.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PIXELS (4:30). Image = tensor HxWxC. 1080p is about 6.2M numbers. Punchline: high-dimensional but not semantic.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OBSTACLE (6:00). Three reasons pixels are hard: dimensionality, no meaning, fragility. This drives the next 40 years of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PCA (7:30). First answer: compress. Directions of max variance; project to ~50 numbers. Interpretable, but only linear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EIGENFACES (8:45). Turk &amp; Pentland 1991. Any face = mean + weighted sum of 'ghost faces'. Learn basis, encode as weights, match by distance. Proved a face is a few dozen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HAAR (10:30). Different answer: contrast questions. Show tiles. Viola-Jones = the camera face box. Integral image + cascade =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HAAR FACE DETECTION (11:45). Features aren't arbitrary — A: eyes darker than cheeks; B: nose bridge brighter than sockets. Pipeline: scan windows, AdaBoost selects features, cascade rejects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CONVOLUTION (13:00). The core operation. Slide kernel, multiply-sum. Edge-detector kernel. Weight sharing = efficient + translation tolerant.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 HIERARCHY (15:00). LEARN the kernels. Depth = edges to parts to objects. AlexNet/ResNet/ViT. ViT is the encoder VLMs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TABLE (17:00). Classical vs deep across data, compute, flexibility. Deep learning absorbed feature design, didn't delete classical.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BRIDGING (18:30). A CNN says 'cat', not a full sentence. Connect vision to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 (19:30). Dual encoders, shared space, 400M pairs. Zero-shot classification. The hinge that makes vision language-native.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VLM ARCHITECTURE (22:00). Vision encoder + projector + LLM. Building a VLM is mostly training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ANSWERS (24:30). Patches to image tokens to prompt to attention to autoregressive answer. Cat-on-laptop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STAGES (25:00). NVIDIA framing: pretraining (align vision+language), then supervised fine-tuning (instruction data), then optional PEFT/LoRA for your domain. You rarely pretrain; you almost always prompt; you sometimes PEFT.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TECHNIQUES (26:00). Two pretraining strategies. Contrastive (CLIP): pull matching image-text pairs together, push mismatches apart; 400M pairs, strong zero-shot. Masking (FLAVA): predict hidden words/pixels; FLAVA combines both with a cross-attention multimodal encoder.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VLMs CAN DO (27:00). Traditional CV = one task, fixed classes, retrain per class. Modern VLMs (per NVIDIA): compare/contrast images, read text &amp; docs, understand long video, spatial reasoning, VQA &amp; summarisation, all steered in natural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LANDSCAPE (25:30). Closed frontier (GPT-4o, Claude, Gemini) vs open (LLaVA, Qwen-VL, Molmo). Choose by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CAPABILITIES (26:30). Captioning/VQA, document to JSON, grounding, chart reading. Invite the room to imagine their own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PLAYBOOK (27:30). Transition. Now the practical part — how to actually get value: use, prompt, ground, tune,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ADOPTION LADDER (28:00). Five rungs; climb only as high as you need. Most value is on rungs 1-2. Don't jump to fine-tuning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PROMPTING (29:30). The image is half the prompt. Be specific, ask for structure/JSON, give role &amp; context, show one example, use high-detail wisely. Walk the vague vs specific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&amp; GROUNDING (31:00). VLM knows general facts, not YOUR facts. Retrieve, augment, answer with citation. The biggest lever against hallucination for defensible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APPROACHES (32:15). Four ways to adapt by cost: prompting/RAG, LoRA, instruction tuning, full FT. Start cheap, move down only when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WALKTHROUGH (33:30). Curate data, freeze &amp; attach adapters, train, evaluate. Stress data quality and regression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CURATION (34:45). Data is the fine-tune. Do: match real inputs, write the exact answer you want, cover edge cases, double-label. Avoid: scraped/mismatched images, inconsistent formats, easy-only, train/test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 &amp; PRODUCTION (36:15). Measure the right thing (incl. don't-know rate), keep a human in the loop, guardrail outputs to a schema, watch cost/latency/drift.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BENCHMARKS (37:00). Public benchmarks (MMMU, DocVQA, ChartQA, MathVista, Video-MME, VQA) compare general capability, usually via multiple-choice over images. But leaderboards are not your task - always confirm on your own held-out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CASES (37:30). Six industries. Pick 2-3 closest to your audience and go deeper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(38:30). Hallucination, spatial reasoning, OCR limits, bias. Human in the loop, constrain outputs, measure on your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TAKEAWAYS (39:30). Six one-liners. Recap the arc. Thank the audience and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9.png"/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5.png"/><Relationship Id="rId4" Type="http://schemas.openxmlformats.org/officeDocument/2006/relationships/image" Target="../media/image1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82296" cy="82296"/>
          </a:xfrm>
          <a:prstGeom prst="ellipse">
            <a:avLst/>
          </a:prstGeom>
          <a:solidFill>
            <a:srgbClr val="2A3566"/>
          </a:solidFill>
        </p:spPr>
      </p:sp>
      <p:sp>
        <p:nvSpPr>
          <p:cNvPr id="3" name="Shape 1"/>
          <p:cNvSpPr/>
          <p:nvPr/>
        </p:nvSpPr>
        <p:spPr>
          <a:xfrm>
            <a:off x="626364" y="566928"/>
            <a:ext cx="82296" cy="82296"/>
          </a:xfrm>
          <a:prstGeom prst="ellipse">
            <a:avLst/>
          </a:prstGeom>
          <a:solidFill>
            <a:srgbClr val="2A3566"/>
          </a:solidFill>
        </p:spPr>
      </p:sp>
      <p:sp>
        <p:nvSpPr>
          <p:cNvPr id="4" name="Shape 2"/>
          <p:cNvSpPr/>
          <p:nvPr/>
        </p:nvSpPr>
        <p:spPr>
          <a:xfrm>
            <a:off x="749808" y="566928"/>
            <a:ext cx="82296" cy="82296"/>
          </a:xfrm>
          <a:prstGeom prst="ellipse">
            <a:avLst/>
          </a:prstGeom>
          <a:solidFill>
            <a:srgbClr val="2A3566"/>
          </a:solidFill>
        </p:spPr>
      </p:sp>
      <p:sp>
        <p:nvSpPr>
          <p:cNvPr id="5" name="Shape 3"/>
          <p:cNvSpPr/>
          <p:nvPr/>
        </p:nvSpPr>
        <p:spPr>
          <a:xfrm>
            <a:off x="873252" y="566928"/>
            <a:ext cx="82296" cy="82296"/>
          </a:xfrm>
          <a:prstGeom prst="ellipse">
            <a:avLst/>
          </a:prstGeom>
          <a:solidFill>
            <a:srgbClr val="2A3566"/>
          </a:solidFill>
        </p:spPr>
      </p:sp>
      <p:sp>
        <p:nvSpPr>
          <p:cNvPr id="6" name="Shape 4"/>
          <p:cNvSpPr/>
          <p:nvPr/>
        </p:nvSpPr>
        <p:spPr>
          <a:xfrm>
            <a:off x="996696" y="566928"/>
            <a:ext cx="82296" cy="82296"/>
          </a:xfrm>
          <a:prstGeom prst="ellipse">
            <a:avLst/>
          </a:prstGeom>
          <a:solidFill>
            <a:srgbClr val="35427E"/>
          </a:solidFill>
        </p:spPr>
      </p:sp>
      <p:sp>
        <p:nvSpPr>
          <p:cNvPr id="7" name="Shape 5"/>
          <p:cNvSpPr/>
          <p:nvPr/>
        </p:nvSpPr>
        <p:spPr>
          <a:xfrm>
            <a:off x="1120140" y="566928"/>
            <a:ext cx="82296" cy="82296"/>
          </a:xfrm>
          <a:prstGeom prst="ellipse">
            <a:avLst/>
          </a:prstGeom>
          <a:solidFill>
            <a:srgbClr val="35427E"/>
          </a:solidFill>
        </p:spPr>
      </p:sp>
      <p:sp>
        <p:nvSpPr>
          <p:cNvPr id="8" name="Shape 6"/>
          <p:cNvSpPr/>
          <p:nvPr/>
        </p:nvSpPr>
        <p:spPr>
          <a:xfrm>
            <a:off x="1243584" y="566928"/>
            <a:ext cx="82296" cy="82296"/>
          </a:xfrm>
          <a:prstGeom prst="ellipse">
            <a:avLst/>
          </a:prstGeom>
          <a:solidFill>
            <a:srgbClr val="35427E"/>
          </a:solidFill>
        </p:spPr>
      </p:sp>
      <p:sp>
        <p:nvSpPr>
          <p:cNvPr id="9" name="Shape 7"/>
          <p:cNvSpPr/>
          <p:nvPr/>
        </p:nvSpPr>
        <p:spPr>
          <a:xfrm>
            <a:off x="1367028" y="566928"/>
            <a:ext cx="82296" cy="82296"/>
          </a:xfrm>
          <a:prstGeom prst="ellipse">
            <a:avLst/>
          </a:prstGeom>
          <a:solidFill>
            <a:srgbClr val="35427E"/>
          </a:solidFill>
        </p:spPr>
      </p:sp>
      <p:sp>
        <p:nvSpPr>
          <p:cNvPr id="10" name="Shape 8"/>
          <p:cNvSpPr/>
          <p:nvPr/>
        </p:nvSpPr>
        <p:spPr>
          <a:xfrm>
            <a:off x="1490472" y="566928"/>
            <a:ext cx="82296" cy="82296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11" name="Shape 9"/>
          <p:cNvSpPr/>
          <p:nvPr/>
        </p:nvSpPr>
        <p:spPr>
          <a:xfrm>
            <a:off x="1613916" y="566928"/>
            <a:ext cx="82296" cy="82296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12" name="Shape 10"/>
          <p:cNvSpPr/>
          <p:nvPr/>
        </p:nvSpPr>
        <p:spPr>
          <a:xfrm>
            <a:off x="1737360" y="566928"/>
            <a:ext cx="82296" cy="82296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13" name="Shape 11"/>
          <p:cNvSpPr/>
          <p:nvPr/>
        </p:nvSpPr>
        <p:spPr>
          <a:xfrm>
            <a:off x="1860804" y="566928"/>
            <a:ext cx="82296" cy="82296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14" name="Shape 12"/>
          <p:cNvSpPr/>
          <p:nvPr/>
        </p:nvSpPr>
        <p:spPr>
          <a:xfrm>
            <a:off x="1984248" y="566928"/>
            <a:ext cx="82296" cy="82296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5" name="Shape 13"/>
          <p:cNvSpPr/>
          <p:nvPr/>
        </p:nvSpPr>
        <p:spPr>
          <a:xfrm>
            <a:off x="2107692" y="566928"/>
            <a:ext cx="82296" cy="82296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6" name="Shape 14"/>
          <p:cNvSpPr/>
          <p:nvPr/>
        </p:nvSpPr>
        <p:spPr>
          <a:xfrm>
            <a:off x="2231136" y="566928"/>
            <a:ext cx="82296" cy="82296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7" name="Shape 15"/>
          <p:cNvSpPr/>
          <p:nvPr/>
        </p:nvSpPr>
        <p:spPr>
          <a:xfrm>
            <a:off x="2354580" y="566928"/>
            <a:ext cx="82296" cy="82296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8" name="Shape 16"/>
          <p:cNvSpPr/>
          <p:nvPr/>
        </p:nvSpPr>
        <p:spPr>
          <a:xfrm>
            <a:off x="2478024" y="566928"/>
            <a:ext cx="82296" cy="82296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9" name="Shape 17"/>
          <p:cNvSpPr/>
          <p:nvPr/>
        </p:nvSpPr>
        <p:spPr>
          <a:xfrm>
            <a:off x="2601468" y="566928"/>
            <a:ext cx="82296" cy="82296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20" name="Shape 18"/>
          <p:cNvSpPr/>
          <p:nvPr/>
        </p:nvSpPr>
        <p:spPr>
          <a:xfrm>
            <a:off x="2724912" y="566928"/>
            <a:ext cx="82296" cy="82296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21" name="Shape 19"/>
          <p:cNvSpPr/>
          <p:nvPr/>
        </p:nvSpPr>
        <p:spPr>
          <a:xfrm>
            <a:off x="2848356" y="566928"/>
            <a:ext cx="82296" cy="82296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22" name="Shape 20"/>
          <p:cNvSpPr/>
          <p:nvPr/>
        </p:nvSpPr>
        <p:spPr>
          <a:xfrm>
            <a:off x="2971800" y="566928"/>
            <a:ext cx="82296" cy="82296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3" name="Shape 21"/>
          <p:cNvSpPr/>
          <p:nvPr/>
        </p:nvSpPr>
        <p:spPr>
          <a:xfrm>
            <a:off x="3095244" y="566928"/>
            <a:ext cx="82296" cy="82296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4" name="Shape 22"/>
          <p:cNvSpPr/>
          <p:nvPr/>
        </p:nvSpPr>
        <p:spPr>
          <a:xfrm>
            <a:off x="3218688" y="566928"/>
            <a:ext cx="82296" cy="82296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5" name="Shape 23"/>
          <p:cNvSpPr/>
          <p:nvPr/>
        </p:nvSpPr>
        <p:spPr>
          <a:xfrm>
            <a:off x="3342132" y="566928"/>
            <a:ext cx="82296" cy="82296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6" name="Shape 24"/>
          <p:cNvSpPr/>
          <p:nvPr/>
        </p:nvSpPr>
        <p:spPr>
          <a:xfrm>
            <a:off x="3465576" y="566928"/>
            <a:ext cx="82296" cy="82296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7" name="Shape 25"/>
          <p:cNvSpPr/>
          <p:nvPr/>
        </p:nvSpPr>
        <p:spPr>
          <a:xfrm>
            <a:off x="3589020" y="566928"/>
            <a:ext cx="82296" cy="82296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8" name="Shape 26"/>
          <p:cNvSpPr/>
          <p:nvPr/>
        </p:nvSpPr>
        <p:spPr>
          <a:xfrm>
            <a:off x="3712464" y="566928"/>
            <a:ext cx="82296" cy="82296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9" name="Shape 27"/>
          <p:cNvSpPr/>
          <p:nvPr/>
        </p:nvSpPr>
        <p:spPr>
          <a:xfrm>
            <a:off x="3835908" y="566928"/>
            <a:ext cx="82296" cy="82296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30" name="Text 28"/>
          <p:cNvSpPr/>
          <p:nvPr/>
        </p:nvSpPr>
        <p:spPr>
          <a:xfrm>
            <a:off x="521335" y="922020"/>
            <a:ext cx="131699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AIBC 2026</a:t>
            </a:r>
            <a:endParaRPr lang="en-US" sz="20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141732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Pixels</a:t>
            </a:r>
            <a:r>
              <a:rPr lang="en-US" sz="5200" b="1" dirty="0">
                <a:solidFill>
                  <a:srgbClr val="8892C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to </a:t>
            </a:r>
            <a:r>
              <a:rPr lang="en-US" sz="52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Prompts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502920" y="248716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2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Building and Tuning Vision-Language Models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02920" y="3063240"/>
            <a:ext cx="7955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40-minute journey through image processing — from PCA and Haar features, through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convolution and deep learning, to modern multimodal VLMs and how to fine-tune them.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21208" y="4114800"/>
            <a:ext cx="3108960" cy="0"/>
          </a:xfrm>
          <a:prstGeom prst="line">
            <a:avLst/>
          </a:prstGeom>
          <a:noFill/>
          <a:ln w="12700">
            <a:solidFill>
              <a:srgbClr val="3440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24528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Eng., Handri Sanyoso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 Lecturer &amp; AI Consultant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635240" y="4114800"/>
            <a:ext cx="868680" cy="868680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4340657"/>
            <a:ext cx="416966" cy="416966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112"/>
            <a:ext cx="710946" cy="288368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634" y="132588"/>
            <a:ext cx="489204" cy="489204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57150"/>
            <a:ext cx="601218" cy="6012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journey: seven stops, one thread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method answers the same question a little better — how do we turn a grid of numbers into meaning?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975104" cy="1170432"/>
          </a:xfrm>
          <a:prstGeom prst="roundRect">
            <a:avLst>
              <a:gd name="adj" fmla="val 7031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" y="2020824"/>
            <a:ext cx="566928" cy="566928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625" y="2168225"/>
            <a:ext cx="272125" cy="2721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9224" y="26243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· Pixels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9224" y="2816352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computer stores an image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642616" y="1874520"/>
            <a:ext cx="1975104" cy="1170432"/>
          </a:xfrm>
          <a:prstGeom prst="roundRect">
            <a:avLst>
              <a:gd name="adj" fmla="val 7031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88920" y="2020824"/>
            <a:ext cx="566928" cy="56692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321" y="2168225"/>
            <a:ext cx="272125" cy="27212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788920" y="26243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· Features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2788920" y="2816352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&amp; Haar — hand-crafted structure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782312" y="1874520"/>
            <a:ext cx="1975104" cy="1170432"/>
          </a:xfrm>
          <a:prstGeom prst="roundRect">
            <a:avLst>
              <a:gd name="adj" fmla="val 7031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928616" y="2020824"/>
            <a:ext cx="566928" cy="566928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17" y="2168225"/>
            <a:ext cx="272125" cy="27212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928616" y="26243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· Deep Nets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928616" y="2816352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Convolution learns features itself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922008" y="1874520"/>
            <a:ext cx="1975104" cy="1170432"/>
          </a:xfrm>
          <a:prstGeom prst="roundRect">
            <a:avLst>
              <a:gd name="adj" fmla="val 7031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7068312" y="2020824"/>
            <a:ext cx="566928" cy="566928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713" y="2168225"/>
            <a:ext cx="272125" cy="2721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068312" y="262432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· Cross-modal</a:t>
            </a:r>
            <a:endParaRPr lang="en-US" sz="1250" dirty="0"/>
          </a:p>
        </p:txBody>
      </p:sp>
      <p:sp>
        <p:nvSpPr>
          <p:cNvPr id="38" name="Text 32"/>
          <p:cNvSpPr/>
          <p:nvPr/>
        </p:nvSpPr>
        <p:spPr>
          <a:xfrm>
            <a:off x="7068312" y="2816352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CLIP aligns images with words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02920" y="3227832"/>
            <a:ext cx="1975104" cy="1170432"/>
          </a:xfrm>
          <a:prstGeom prst="roundRect">
            <a:avLst>
              <a:gd name="adj" fmla="val 7031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649224" y="3374136"/>
            <a:ext cx="566928" cy="56692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625" y="3521537"/>
            <a:ext cx="272125" cy="272125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49224" y="3977640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· VLMs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649224" y="4169664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encoder meets an LLM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2642616" y="3227832"/>
            <a:ext cx="1975104" cy="1170432"/>
          </a:xfrm>
          <a:prstGeom prst="roundRect">
            <a:avLst>
              <a:gd name="adj" fmla="val 7031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2788920" y="3374136"/>
            <a:ext cx="566928" cy="566928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6321" y="3521537"/>
            <a:ext cx="272125" cy="272125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2788920" y="3977640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· Tuning</a:t>
            </a:r>
            <a:endParaRPr lang="en-US" sz="1250" dirty="0"/>
          </a:p>
        </p:txBody>
      </p:sp>
      <p:sp>
        <p:nvSpPr>
          <p:cNvPr id="48" name="Text 40"/>
          <p:cNvSpPr/>
          <p:nvPr/>
        </p:nvSpPr>
        <p:spPr>
          <a:xfrm>
            <a:off x="2788920" y="4169664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LoRA &amp; instruction fine-tuning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782312" y="3227832"/>
            <a:ext cx="1975104" cy="1170432"/>
          </a:xfrm>
          <a:prstGeom prst="roundRect">
            <a:avLst>
              <a:gd name="adj" fmla="val 7031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50" name="Shape 42"/>
          <p:cNvSpPr/>
          <p:nvPr/>
        </p:nvSpPr>
        <p:spPr>
          <a:xfrm>
            <a:off x="4928616" y="3374136"/>
            <a:ext cx="566928" cy="566928"/>
          </a:xfrm>
          <a:prstGeom prst="ellipse">
            <a:avLst/>
          </a:prstGeom>
          <a:solidFill>
            <a:srgbClr val="0E8F8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6017" y="3521537"/>
            <a:ext cx="272125" cy="272125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4928616" y="3977640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· Applied</a:t>
            </a:r>
            <a:endParaRPr lang="en-US" sz="1250" dirty="0"/>
          </a:p>
        </p:txBody>
      </p:sp>
      <p:sp>
        <p:nvSpPr>
          <p:cNvPr id="53" name="Text 44"/>
          <p:cNvSpPr/>
          <p:nvPr/>
        </p:nvSpPr>
        <p:spPr>
          <a:xfrm>
            <a:off x="4928616" y="4169664"/>
            <a:ext cx="1700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Demos, use cases &amp; pitfalls</a:t>
            </a:r>
            <a:endParaRPr lang="en-US" sz="950" dirty="0"/>
          </a:p>
        </p:txBody>
      </p:sp>
      <p:sp>
        <p:nvSpPr>
          <p:cNvPr id="54" name="Text 45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234440" cy="1234440"/>
          </a:xfrm>
          <a:prstGeom prst="ellipse">
            <a:avLst/>
          </a:prstGeom>
          <a:solidFill>
            <a:srgbClr val="17B2A8"/>
          </a:solidFill>
          <a:ln w="76200">
            <a:solidFill>
              <a:srgbClr val="2C3768"/>
            </a:solidFill>
            <a:prstDash val="solid"/>
          </a:ln>
          <a:effectLst>
            <a:outerShdw blurRad="101600" dist="25400" dir="5400000" algn="bl" rotWithShape="0">
              <a:srgbClr val="1A2350">
                <a:alpha val="2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822960"/>
            <a:ext cx="12344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2788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Dr. Eng. Handri Santoso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2816352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CYBERSECURITY RESEARCHER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Dean, Faculty of Science &amp; Tech — Pradita University</a:t>
            </a:r>
            <a:endParaRPr lang="en-US" sz="1050" dirty="0"/>
          </a:p>
          <a:p>
            <a:pPr marL="0" indent="0" algn="ctr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&amp; IoT Technical Specialist — AIDECE</a:t>
            </a:r>
            <a:endParaRPr lang="en-US" sz="1050" dirty="0"/>
          </a:p>
          <a:p>
            <a:pPr marL="0" indent="0" algn="ctr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Dr.Eng — Nagaoka Univ. of Technology, Japan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0" y="45720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30168" y="71323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Who's guiding you from pixels to prompts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0" y="1207008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3CA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researcher, Intelligent System and Control Systems Engineer with 25+ years across deep learning, computer vision, ICS/OT security and industrial IoT. 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2212848"/>
            <a:ext cx="1216152" cy="786384"/>
          </a:xfrm>
          <a:prstGeom prst="roundRect">
            <a:avLst>
              <a:gd name="adj" fmla="val 6977"/>
            </a:avLst>
          </a:prstGeom>
          <a:solidFill>
            <a:srgbClr val="1A2350"/>
          </a:solidFill>
        </p:spPr>
      </p:sp>
      <p:sp>
        <p:nvSpPr>
          <p:cNvPr id="11" name="Text 9"/>
          <p:cNvSpPr/>
          <p:nvPr/>
        </p:nvSpPr>
        <p:spPr>
          <a:xfrm>
            <a:off x="3657600" y="2304288"/>
            <a:ext cx="12161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2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25+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03320" y="2651760"/>
            <a:ext cx="1124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years in AI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28616" y="2212848"/>
            <a:ext cx="1216152" cy="786384"/>
          </a:xfrm>
          <a:prstGeom prst="roundRect">
            <a:avLst>
              <a:gd name="adj" fmla="val 6977"/>
            </a:avLst>
          </a:prstGeom>
          <a:solidFill>
            <a:srgbClr val="1A2350"/>
          </a:solidFill>
        </p:spPr>
      </p:sp>
      <p:sp>
        <p:nvSpPr>
          <p:cNvPr id="14" name="Text 12"/>
          <p:cNvSpPr/>
          <p:nvPr/>
        </p:nvSpPr>
        <p:spPr>
          <a:xfrm>
            <a:off x="4928616" y="2304288"/>
            <a:ext cx="12161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2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150+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74336" y="2651760"/>
            <a:ext cx="1124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99632" y="2212848"/>
            <a:ext cx="1216152" cy="786384"/>
          </a:xfrm>
          <a:prstGeom prst="roundRect">
            <a:avLst>
              <a:gd name="adj" fmla="val 6977"/>
            </a:avLst>
          </a:prstGeom>
          <a:solidFill>
            <a:srgbClr val="1A2350"/>
          </a:solidFill>
        </p:spPr>
      </p:sp>
      <p:sp>
        <p:nvSpPr>
          <p:cNvPr id="17" name="Text 15"/>
          <p:cNvSpPr/>
          <p:nvPr/>
        </p:nvSpPr>
        <p:spPr>
          <a:xfrm>
            <a:off x="6199632" y="2304288"/>
            <a:ext cx="12161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2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45352" y="2651760"/>
            <a:ext cx="1124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best-paper awards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70648" y="2212848"/>
            <a:ext cx="1216152" cy="786384"/>
          </a:xfrm>
          <a:prstGeom prst="roundRect">
            <a:avLst>
              <a:gd name="adj" fmla="val 6977"/>
            </a:avLst>
          </a:prstGeom>
          <a:solidFill>
            <a:srgbClr val="1A2350"/>
          </a:solidFill>
        </p:spPr>
      </p:sp>
      <p:sp>
        <p:nvSpPr>
          <p:cNvPr id="20" name="Text 18"/>
          <p:cNvSpPr/>
          <p:nvPr/>
        </p:nvSpPr>
        <p:spPr>
          <a:xfrm>
            <a:off x="7470648" y="2304288"/>
            <a:ext cx="12161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2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20+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16368" y="2651760"/>
            <a:ext cx="11247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projects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0" y="3200400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1A2350"/>
          </a:solidFill>
        </p:spPr>
      </p:sp>
      <p:sp>
        <p:nvSpPr>
          <p:cNvPr id="23" name="Shape 21"/>
          <p:cNvSpPr/>
          <p:nvPr/>
        </p:nvSpPr>
        <p:spPr>
          <a:xfrm>
            <a:off x="3840480" y="3383280"/>
            <a:ext cx="457200" cy="457200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9352" y="3502152"/>
            <a:ext cx="219456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407408" y="338328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 vision &amp; deep learning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840480" y="3950208"/>
            <a:ext cx="212140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CNN, AdaBoost, HMM, SVM — face, fatigue &amp; sign-language recognition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254496" y="3200400"/>
            <a:ext cx="2487168" cy="1417320"/>
          </a:xfrm>
          <a:prstGeom prst="roundRect">
            <a:avLst>
              <a:gd name="adj" fmla="val 4516"/>
            </a:avLst>
          </a:prstGeom>
          <a:solidFill>
            <a:srgbClr val="1A2350"/>
          </a:solidFill>
        </p:spPr>
      </p:sp>
      <p:sp>
        <p:nvSpPr>
          <p:cNvPr id="28" name="Shape 25"/>
          <p:cNvSpPr/>
          <p:nvPr/>
        </p:nvSpPr>
        <p:spPr>
          <a:xfrm>
            <a:off x="6437376" y="3383280"/>
            <a:ext cx="457200" cy="457200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3502152"/>
            <a:ext cx="219456" cy="21945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004304" y="3383280"/>
            <a:ext cx="15727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IOT, LLM, RAG &amp; AI for industry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437376" y="3950208"/>
            <a:ext cx="2121408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5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LLM/RAG for industrial logs, banking &amp; alarm reporting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BIG SHIFT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vision changed so profoundly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502920" y="1554480"/>
            <a:ext cx="3977640" cy="3108960"/>
          </a:xfrm>
          <a:prstGeom prst="roundRect">
            <a:avLst>
              <a:gd name="adj" fmla="val 2647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17830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old way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2194560"/>
            <a:ext cx="35661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Engineers hand-designed features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PCA, Haar, SIFT, HOG — a human decided what mattered in an image, then a classifier ran on top.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Narrow &amp; brittle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face detector could not read text; a text reader could not describe a scene. One model, one task.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3977640" cy="3108960"/>
          </a:xfrm>
          <a:prstGeom prst="roundRect">
            <a:avLst>
              <a:gd name="adj" fmla="val 2647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7830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VLM way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2194560"/>
            <a:ext cx="35661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learn features from data</a:t>
            </a:r>
            <a:endParaRPr lang="en-US" sz="1300" dirty="0"/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nets discover edges → parts → objects on their own, across millions of images.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&amp; promptable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model captions, answers questions, reads documents, and reasons — all steered by natural language.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70832" y="2880360"/>
            <a:ext cx="457200" cy="457200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25" name="Text 23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· PIXELS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 a machine, an image is a tensor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objects, no scene — just a grid of numbers with height, width and colour channels.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1965960"/>
            <a:ext cx="310896" cy="310896"/>
          </a:xfrm>
          <a:prstGeom prst="rect">
            <a:avLst/>
          </a:prstGeom>
          <a:solidFill>
            <a:srgbClr val="7878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965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120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50976" y="1965960"/>
            <a:ext cx="310896" cy="310896"/>
          </a:xfrm>
          <a:prstGeom prst="rect">
            <a:avLst/>
          </a:prstGeom>
          <a:solidFill>
            <a:srgbClr val="7C7C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1965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261872" y="1965960"/>
            <a:ext cx="310896" cy="310896"/>
          </a:xfrm>
          <a:prstGeom prst="rect">
            <a:avLst/>
          </a:prstGeom>
          <a:solidFill>
            <a:srgbClr val="8282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1965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572768" y="1965960"/>
            <a:ext cx="310896" cy="310896"/>
          </a:xfrm>
          <a:prstGeom prst="rect">
            <a:avLst/>
          </a:prstGeom>
          <a:solidFill>
            <a:srgbClr val="B4B4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72768" y="1965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180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883664" y="1965960"/>
            <a:ext cx="310896" cy="310896"/>
          </a:xfrm>
          <a:prstGeom prst="rect">
            <a:avLst/>
          </a:prstGeom>
          <a:solidFill>
            <a:srgbClr val="D2D2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83664" y="1965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210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0080" y="2276856"/>
            <a:ext cx="310896" cy="310896"/>
          </a:xfrm>
          <a:prstGeom prst="rect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2768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118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50976" y="2276856"/>
            <a:ext cx="310896" cy="310896"/>
          </a:xfrm>
          <a:prstGeom prst="rect">
            <a:avLst/>
          </a:prstGeom>
          <a:solidFill>
            <a:srgbClr val="7A7A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" y="22768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122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261872" y="2276856"/>
            <a:ext cx="310896" cy="310896"/>
          </a:xfrm>
          <a:prstGeom prst="rect">
            <a:avLst/>
          </a:prstGeom>
          <a:solidFill>
            <a:srgbClr val="9696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61872" y="22768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150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572768" y="2276856"/>
            <a:ext cx="310896" cy="310896"/>
          </a:xfrm>
          <a:prstGeom prst="rect">
            <a:avLst/>
          </a:prstGeom>
          <a:solidFill>
            <a:srgbClr val="CDCD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72768" y="22768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83664" y="2276856"/>
            <a:ext cx="310896" cy="310896"/>
          </a:xfrm>
          <a:prstGeom prst="rect">
            <a:avLst/>
          </a:prstGeom>
          <a:solidFill>
            <a:srgbClr val="DEDE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83664" y="22768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222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40080" y="2587752"/>
            <a:ext cx="310896" cy="310896"/>
          </a:xfrm>
          <a:prstGeom prst="rect">
            <a:avLst/>
          </a:prstGeom>
          <a:solidFill>
            <a:srgbClr val="6E6E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25877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110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50976" y="2587752"/>
            <a:ext cx="310896" cy="310896"/>
          </a:xfrm>
          <a:prstGeom prst="rect">
            <a:avLst/>
          </a:prstGeom>
          <a:solidFill>
            <a:srgbClr val="8C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" y="25877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140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261872" y="2587752"/>
            <a:ext cx="310896" cy="310896"/>
          </a:xfrm>
          <a:prstGeom prst="rect">
            <a:avLst/>
          </a:prstGeom>
          <a:solidFill>
            <a:srgbClr val="C8C8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61872" y="25877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572768" y="2587752"/>
            <a:ext cx="310896" cy="310896"/>
          </a:xfrm>
          <a:prstGeom prst="rect">
            <a:avLst/>
          </a:prstGeom>
          <a:solidFill>
            <a:srgbClr val="D7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72768" y="25877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215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83664" y="2587752"/>
            <a:ext cx="310896" cy="310896"/>
          </a:xfrm>
          <a:prstGeom prst="rect">
            <a:avLst/>
          </a:prstGeom>
          <a:solidFill>
            <a:srgbClr val="E1E1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83664" y="258775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225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40080" y="2898648"/>
            <a:ext cx="310896" cy="310896"/>
          </a:xfrm>
          <a:prstGeom prst="rect">
            <a:avLst/>
          </a:prstGeom>
          <a:solidFill>
            <a:srgbClr val="8282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28986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DDDD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130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50976" y="2898648"/>
            <a:ext cx="310896" cy="310896"/>
          </a:xfrm>
          <a:prstGeom prst="rect">
            <a:avLst/>
          </a:prstGeom>
          <a:solidFill>
            <a:srgbClr val="BEBE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50976" y="28986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190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261872" y="2898648"/>
            <a:ext cx="310896" cy="310896"/>
          </a:xfrm>
          <a:prstGeom prst="rect">
            <a:avLst/>
          </a:prstGeom>
          <a:solidFill>
            <a:srgbClr val="D2D2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61872" y="28986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210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572768" y="2898648"/>
            <a:ext cx="310896" cy="310896"/>
          </a:xfrm>
          <a:prstGeom prst="rect">
            <a:avLst/>
          </a:prstGeom>
          <a:solidFill>
            <a:srgbClr val="DADAD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72768" y="28986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218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883664" y="2898648"/>
            <a:ext cx="310896" cy="310896"/>
          </a:xfrm>
          <a:prstGeom prst="rect">
            <a:avLst/>
          </a:prstGeom>
          <a:solidFill>
            <a:srgbClr val="E4E4E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83664" y="28986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228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40080" y="3209544"/>
            <a:ext cx="310896" cy="310896"/>
          </a:xfrm>
          <a:prstGeom prst="rect">
            <a:avLst/>
          </a:prstGeom>
          <a:solidFill>
            <a:srgbClr val="B4B4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32095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180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950976" y="3209544"/>
            <a:ext cx="310896" cy="310896"/>
          </a:xfrm>
          <a:prstGeom prst="rect">
            <a:avLst/>
          </a:prstGeom>
          <a:solidFill>
            <a:srgbClr val="CDCD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50976" y="32095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205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1261872" y="3209544"/>
            <a:ext cx="310896" cy="310896"/>
          </a:xfrm>
          <a:prstGeom prst="rect">
            <a:avLst/>
          </a:prstGeom>
          <a:solidFill>
            <a:srgbClr val="D7D7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61872" y="32095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215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572768" y="3209544"/>
            <a:ext cx="310896" cy="310896"/>
          </a:xfrm>
          <a:prstGeom prst="rect">
            <a:avLst/>
          </a:prstGeom>
          <a:solidFill>
            <a:srgbClr val="DEDE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72768" y="32095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222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1883664" y="3209544"/>
            <a:ext cx="310896" cy="310896"/>
          </a:xfrm>
          <a:prstGeom prst="rect">
            <a:avLst/>
          </a:prstGeom>
          <a:solidFill>
            <a:srgbClr val="E6E6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83664" y="32095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2222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230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94360" y="357530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5×5 patch — each cell is one intensity (0–255)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566160" y="187452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794760" y="20116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Shape:  </a:t>
            </a:r>
            <a:r>
              <a:rPr lang="en-US" sz="140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Height × Width × Channels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3794760" y="23317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1080p RGB photo = 1920 × 1080 × 3  ≈  6.2 million numbers.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566160" y="292608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3794760" y="306324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Grayscale  </a:t>
            </a:r>
            <a:r>
              <a:rPr lang="en-US" sz="140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channel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794760" y="33832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Brightness only — the classic starting point for feature methods.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566160" y="3977640"/>
            <a:ext cx="5074920" cy="777240"/>
          </a:xfrm>
          <a:prstGeom prst="roundRect">
            <a:avLst>
              <a:gd name="adj" fmla="val 10588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3794760" y="41148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57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problem   </a:t>
            </a:r>
            <a:r>
              <a:rPr lang="en-US" sz="125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 are high-dimensional but not semantic.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· THE OBSTACLE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raw pixels are hard to learn from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502920" y="1828800"/>
            <a:ext cx="2688336" cy="2606040"/>
          </a:xfrm>
          <a:prstGeom prst="roundRect">
            <a:avLst>
              <a:gd name="adj" fmla="val 3158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2084832"/>
            <a:ext cx="640080" cy="640080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251253"/>
            <a:ext cx="307238" cy="30723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1520" y="2852928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 many dimensions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" y="3364992"/>
            <a:ext cx="2231136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Millions of correlated pixels. Most of that space is redundant — neighbouring pixels look almost identical.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337560" y="1828800"/>
            <a:ext cx="2688336" cy="2606040"/>
          </a:xfrm>
          <a:prstGeom prst="roundRect">
            <a:avLst>
              <a:gd name="adj" fmla="val 3158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566160" y="2084832"/>
            <a:ext cx="640080" cy="640080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2251253"/>
            <a:ext cx="307238" cy="30723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566160" y="2852928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built-in meaning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3566160" y="3364992"/>
            <a:ext cx="2231136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value 128 tells you nothing about “cat” or “road sign.” Semantics live in patterns, not single pixels.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172200" y="1828800"/>
            <a:ext cx="2688336" cy="2606040"/>
          </a:xfrm>
          <a:prstGeom prst="roundRect">
            <a:avLst>
              <a:gd name="adj" fmla="val 3158"/>
            </a:avLst>
          </a:prstGeom>
          <a:solidFill>
            <a:srgbClr val="FCEAE6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0" y="2084832"/>
            <a:ext cx="640080" cy="640080"/>
          </a:xfrm>
          <a:prstGeom prst="ellipse">
            <a:avLst/>
          </a:prstGeom>
          <a:solidFill>
            <a:srgbClr val="FF7A6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21" y="2251253"/>
            <a:ext cx="307238" cy="30723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400800" y="2852928"/>
            <a:ext cx="22311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Fragile to change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6400800" y="3364992"/>
            <a:ext cx="2231136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Shift, rotate, or re-light the same object and every pixel value changes — but the meaning does not.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next 40 years of computer vision are essentially the search for better answers to this one problem.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·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PCA — compress before you classify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502920" y="1508760"/>
            <a:ext cx="4114800" cy="3200400"/>
          </a:xfrm>
          <a:prstGeom prst="roundRect">
            <a:avLst>
              <a:gd name="adj" fmla="val 2571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1691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566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idea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2011680"/>
            <a:ext cx="365760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directions along which images vary the most, and keep only those.</a:t>
            </a:r>
            <a:endParaRPr lang="en-US" sz="1250" dirty="0"/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thousands of pixels onto a few dozen </a:t>
            </a:r>
            <a:r>
              <a:rPr lang="en-US" sz="1250" b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principal components</a:t>
            </a:r>
            <a:r>
              <a:rPr lang="en-US" sz="125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a compact, de-correlated fingerprint of the image.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Eigenfaces (1991)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famous face-recognition example: every face becomes a weighted sum of a handful of “ghost faces.”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00600" y="1508760"/>
            <a:ext cx="3840480" cy="1051560"/>
          </a:xfrm>
          <a:prstGeom prst="roundRect">
            <a:avLst>
              <a:gd name="adj" fmla="val 7826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6642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z  =  Wᵀ (x − μ)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212140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= flattened image · W = top eigenvectors · z = compact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788920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27889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High-dim image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78892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6M pixels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447288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83480" y="3447288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Covariance + SVD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3447288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axes of variance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4105656"/>
            <a:ext cx="3840480" cy="548640"/>
          </a:xfrm>
          <a:prstGeom prst="roundRect">
            <a:avLst>
              <a:gd name="adj" fmla="val 15000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83480" y="410565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Top-k components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4105656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~50 numbers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Strength: </a:t>
            </a: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interpretable.  </a:t>
            </a:r>
            <a:r>
              <a:rPr lang="en-US" sz="1150" b="1" dirty="0">
                <a:solidFill>
                  <a:srgbClr val="FF7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Limit: </a:t>
            </a: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linear structure.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· CASE STUDY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Eigenfaces — PCA's landmark moment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Turk &amp; Pentland, MIT (1991): the first face recognition that actually worked at scale — and it ran on PCA.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1965960"/>
            <a:ext cx="960120" cy="960120"/>
          </a:xfrm>
          <a:prstGeom prst="roundRect">
            <a:avLst>
              <a:gd name="adj" fmla="val 4762"/>
            </a:avLst>
          </a:prstGeom>
          <a:solidFill>
            <a:srgbClr val="ECEEFC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0509" y="2100377"/>
            <a:ext cx="499262" cy="633679"/>
          </a:xfrm>
          <a:prstGeom prst="ellipse">
            <a:avLst/>
          </a:prstGeom>
          <a:solidFill>
            <a:srgbClr val="9AA0C8"/>
          </a:solidFill>
        </p:spPr>
      </p:sp>
      <p:sp>
        <p:nvSpPr>
          <p:cNvPr id="21" name="Shape 19"/>
          <p:cNvSpPr/>
          <p:nvPr/>
        </p:nvSpPr>
        <p:spPr>
          <a:xfrm>
            <a:off x="985723" y="2292401"/>
            <a:ext cx="57607" cy="57607"/>
          </a:xfrm>
          <a:prstGeom prst="ellipse">
            <a:avLst/>
          </a:prstGeom>
          <a:solidFill>
            <a:srgbClr val="1A2350"/>
          </a:solidFill>
        </p:spPr>
      </p:sp>
      <p:sp>
        <p:nvSpPr>
          <p:cNvPr id="22" name="Shape 20"/>
          <p:cNvSpPr/>
          <p:nvPr/>
        </p:nvSpPr>
        <p:spPr>
          <a:xfrm>
            <a:off x="1177747" y="2292401"/>
            <a:ext cx="57607" cy="57607"/>
          </a:xfrm>
          <a:prstGeom prst="ellipse">
            <a:avLst/>
          </a:prstGeom>
          <a:solidFill>
            <a:srgbClr val="1A2350"/>
          </a:solidFill>
        </p:spPr>
      </p:sp>
      <p:sp>
        <p:nvSpPr>
          <p:cNvPr id="23" name="Text 21"/>
          <p:cNvSpPr/>
          <p:nvPr/>
        </p:nvSpPr>
        <p:spPr>
          <a:xfrm>
            <a:off x="548640" y="294436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face  μ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27632" y="230200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566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993392" y="230200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w₁·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40864" y="1965960"/>
            <a:ext cx="960120" cy="960120"/>
          </a:xfrm>
          <a:prstGeom prst="roundRect">
            <a:avLst>
              <a:gd name="adj" fmla="val 4762"/>
            </a:avLst>
          </a:prstGeom>
          <a:solidFill>
            <a:srgbClr val="0E1330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1293" y="2100377"/>
            <a:ext cx="499262" cy="633679"/>
          </a:xfrm>
          <a:prstGeom prst="ellipse">
            <a:avLst/>
          </a:prstGeom>
          <a:solidFill>
            <a:srgbClr val="C9CEEF"/>
          </a:solidFill>
        </p:spPr>
      </p:sp>
      <p:sp>
        <p:nvSpPr>
          <p:cNvPr id="28" name="Shape 26"/>
          <p:cNvSpPr/>
          <p:nvPr/>
        </p:nvSpPr>
        <p:spPr>
          <a:xfrm>
            <a:off x="2686507" y="2292401"/>
            <a:ext cx="57607" cy="57607"/>
          </a:xfrm>
          <a:prstGeom prst="ellipse">
            <a:avLst/>
          </a:prstGeom>
          <a:solidFill>
            <a:srgbClr val="0E1330"/>
          </a:solidFill>
        </p:spPr>
      </p:sp>
      <p:sp>
        <p:nvSpPr>
          <p:cNvPr id="29" name="Shape 27"/>
          <p:cNvSpPr/>
          <p:nvPr/>
        </p:nvSpPr>
        <p:spPr>
          <a:xfrm>
            <a:off x="2878531" y="2292401"/>
            <a:ext cx="57607" cy="57607"/>
          </a:xfrm>
          <a:prstGeom prst="ellipse">
            <a:avLst/>
          </a:prstGeom>
          <a:solidFill>
            <a:srgbClr val="0E1330"/>
          </a:solidFill>
        </p:spPr>
      </p:sp>
      <p:sp>
        <p:nvSpPr>
          <p:cNvPr id="30" name="Text 28"/>
          <p:cNvSpPr/>
          <p:nvPr/>
        </p:nvSpPr>
        <p:spPr>
          <a:xfrm>
            <a:off x="3319272" y="230200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566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639312" y="230200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w₂·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986784" y="1965960"/>
            <a:ext cx="960120" cy="960120"/>
          </a:xfrm>
          <a:prstGeom prst="roundRect">
            <a:avLst>
              <a:gd name="adj" fmla="val 4762"/>
            </a:avLst>
          </a:prstGeom>
          <a:solidFill>
            <a:srgbClr val="0E1330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17213" y="2100377"/>
            <a:ext cx="499262" cy="633679"/>
          </a:xfrm>
          <a:prstGeom prst="ellipse">
            <a:avLst/>
          </a:prstGeom>
          <a:solidFill>
            <a:srgbClr val="AEB6E6"/>
          </a:solidFill>
        </p:spPr>
      </p:sp>
      <p:sp>
        <p:nvSpPr>
          <p:cNvPr id="34" name="Shape 32"/>
          <p:cNvSpPr/>
          <p:nvPr/>
        </p:nvSpPr>
        <p:spPr>
          <a:xfrm>
            <a:off x="4332427" y="2292401"/>
            <a:ext cx="57607" cy="57607"/>
          </a:xfrm>
          <a:prstGeom prst="ellipse">
            <a:avLst/>
          </a:prstGeom>
          <a:solidFill>
            <a:srgbClr val="0E1330"/>
          </a:solidFill>
        </p:spPr>
      </p:sp>
      <p:sp>
        <p:nvSpPr>
          <p:cNvPr id="35" name="Shape 33"/>
          <p:cNvSpPr/>
          <p:nvPr/>
        </p:nvSpPr>
        <p:spPr>
          <a:xfrm>
            <a:off x="4524451" y="2292401"/>
            <a:ext cx="57607" cy="57607"/>
          </a:xfrm>
          <a:prstGeom prst="ellipse">
            <a:avLst/>
          </a:prstGeom>
          <a:solidFill>
            <a:srgbClr val="0E1330"/>
          </a:solidFill>
        </p:spPr>
      </p:sp>
      <p:sp>
        <p:nvSpPr>
          <p:cNvPr id="36" name="Text 34"/>
          <p:cNvSpPr/>
          <p:nvPr/>
        </p:nvSpPr>
        <p:spPr>
          <a:xfrm>
            <a:off x="4965192" y="230200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566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85232" y="230200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4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w₃·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32704" y="1965960"/>
            <a:ext cx="960120" cy="960120"/>
          </a:xfrm>
          <a:prstGeom prst="roundRect">
            <a:avLst>
              <a:gd name="adj" fmla="val 4762"/>
            </a:avLst>
          </a:prstGeom>
          <a:solidFill>
            <a:srgbClr val="0E1330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63133" y="2100377"/>
            <a:ext cx="499262" cy="633679"/>
          </a:xfrm>
          <a:prstGeom prst="ellipse">
            <a:avLst/>
          </a:prstGeom>
          <a:solidFill>
            <a:srgbClr val="8E97D6"/>
          </a:solidFill>
        </p:spPr>
      </p:sp>
      <p:sp>
        <p:nvSpPr>
          <p:cNvPr id="40" name="Shape 38"/>
          <p:cNvSpPr/>
          <p:nvPr/>
        </p:nvSpPr>
        <p:spPr>
          <a:xfrm>
            <a:off x="5978347" y="2292401"/>
            <a:ext cx="57607" cy="57607"/>
          </a:xfrm>
          <a:prstGeom prst="ellipse">
            <a:avLst/>
          </a:prstGeom>
          <a:solidFill>
            <a:srgbClr val="0E1330"/>
          </a:solidFill>
        </p:spPr>
      </p:sp>
      <p:sp>
        <p:nvSpPr>
          <p:cNvPr id="41" name="Shape 39"/>
          <p:cNvSpPr/>
          <p:nvPr/>
        </p:nvSpPr>
        <p:spPr>
          <a:xfrm>
            <a:off x="6170371" y="2292401"/>
            <a:ext cx="57607" cy="57607"/>
          </a:xfrm>
          <a:prstGeom prst="ellipse">
            <a:avLst/>
          </a:prstGeom>
          <a:solidFill>
            <a:srgbClr val="0E1330"/>
          </a:solidFill>
        </p:spPr>
      </p:sp>
      <p:sp>
        <p:nvSpPr>
          <p:cNvPr id="42" name="Text 40"/>
          <p:cNvSpPr/>
          <p:nvPr/>
        </p:nvSpPr>
        <p:spPr>
          <a:xfrm>
            <a:off x="2011680" y="294436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“ghost faces” = top eigenvectors (principal components)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03720" y="230200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=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7269480" y="1965960"/>
            <a:ext cx="960120" cy="960120"/>
          </a:xfrm>
          <a:prstGeom prst="roundRect">
            <a:avLst>
              <a:gd name="adj" fmla="val 4762"/>
            </a:avLst>
          </a:prstGeom>
          <a:solidFill>
            <a:srgbClr val="E7F6F5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9909" y="2100377"/>
            <a:ext cx="499262" cy="633679"/>
          </a:xfrm>
          <a:prstGeom prst="ellipse">
            <a:avLst/>
          </a:prstGeom>
          <a:solidFill>
            <a:srgbClr val="6FA8A2"/>
          </a:solidFill>
        </p:spPr>
      </p:sp>
      <p:sp>
        <p:nvSpPr>
          <p:cNvPr id="46" name="Shape 44"/>
          <p:cNvSpPr/>
          <p:nvPr/>
        </p:nvSpPr>
        <p:spPr>
          <a:xfrm>
            <a:off x="7615123" y="2292401"/>
            <a:ext cx="57607" cy="57607"/>
          </a:xfrm>
          <a:prstGeom prst="ellipse">
            <a:avLst/>
          </a:prstGeom>
          <a:solidFill>
            <a:srgbClr val="1A2350"/>
          </a:solidFill>
        </p:spPr>
      </p:sp>
      <p:sp>
        <p:nvSpPr>
          <p:cNvPr id="47" name="Shape 45"/>
          <p:cNvSpPr/>
          <p:nvPr/>
        </p:nvSpPr>
        <p:spPr>
          <a:xfrm>
            <a:off x="7807147" y="2292401"/>
            <a:ext cx="57607" cy="57607"/>
          </a:xfrm>
          <a:prstGeom prst="ellipse">
            <a:avLst/>
          </a:prstGeom>
          <a:solidFill>
            <a:srgbClr val="1A2350"/>
          </a:solidFill>
        </p:spPr>
      </p:sp>
      <p:sp>
        <p:nvSpPr>
          <p:cNvPr id="48" name="Shape 46"/>
          <p:cNvSpPr/>
          <p:nvPr/>
        </p:nvSpPr>
        <p:spPr>
          <a:xfrm>
            <a:off x="7269480" y="1965960"/>
            <a:ext cx="960120" cy="960120"/>
          </a:xfrm>
          <a:prstGeom prst="roundRect">
            <a:avLst>
              <a:gd name="adj" fmla="val 4762"/>
            </a:avLst>
          </a:prstGeom>
          <a:ln w="25400">
            <a:solidFill>
              <a:srgbClr val="17B2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294436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E8F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face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3429000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67512" y="3593592"/>
            <a:ext cx="384048" cy="384048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52" name="Text 50"/>
          <p:cNvSpPr/>
          <p:nvPr/>
        </p:nvSpPr>
        <p:spPr>
          <a:xfrm>
            <a:off x="667512" y="35935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161288" y="3575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the basis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85800" y="3941064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PCA on a set of aligned face photos → a handful of eigenfaces capturing how faces differ.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3246120" y="3429000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410712" y="3593592"/>
            <a:ext cx="384048" cy="384048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57" name="Text 55"/>
          <p:cNvSpPr/>
          <p:nvPr/>
        </p:nvSpPr>
        <p:spPr>
          <a:xfrm>
            <a:off x="3410712" y="35935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3904488" y="3575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 as weights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3429000" y="3941064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face becomes a short vector of weights (w₁…wₖ) — often just 10–40 numbers.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5989320" y="3429000"/>
            <a:ext cx="2651760" cy="960120"/>
          </a:xfrm>
          <a:prstGeom prst="roundRect">
            <a:avLst>
              <a:gd name="adj" fmla="val 8571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53912" y="3593592"/>
            <a:ext cx="384048" cy="384048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62" name="Text 60"/>
          <p:cNvSpPr/>
          <p:nvPr/>
        </p:nvSpPr>
        <p:spPr>
          <a:xfrm>
            <a:off x="6153912" y="35935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6647688" y="357530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by distance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6172200" y="3941064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Recognise a new face by finding the nearest weight-vector among known people.</a:t>
            </a:r>
            <a:endParaRPr lang="en-US" sz="930" dirty="0"/>
          </a:p>
        </p:txBody>
      </p:sp>
      <p:sp>
        <p:nvSpPr>
          <p:cNvPr id="65" name="Text 63"/>
          <p:cNvSpPr/>
          <p:nvPr/>
        </p:nvSpPr>
        <p:spPr>
          <a:xfrm>
            <a:off x="502920" y="452628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i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was a breakthrough:  </a:t>
            </a:r>
            <a:r>
              <a:rPr lang="en-US" sz="1100" i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cheap, fast, and it proved a face could be reduced to a few dozen numbers — the compression mindset every modern embedding still uses.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· FEATURES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Haar features — light vs. dark, very fast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compressing, Haar features ask simple contrast questions: is this region brighter than that one?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196596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377440"/>
            <a:ext cx="411480" cy="411480"/>
          </a:xfrm>
          <a:prstGeom prst="rect">
            <a:avLst/>
          </a:prstGeom>
          <a:solidFill>
            <a:srgbClr val="2B2B2B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377440"/>
            <a:ext cx="411480" cy="411480"/>
          </a:xfrm>
          <a:prstGeom prst="rect">
            <a:avLst/>
          </a:prstGeom>
          <a:solidFill>
            <a:srgbClr val="2B2B2B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346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83080" y="1965960"/>
            <a:ext cx="411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1965960"/>
            <a:ext cx="411480" cy="822960"/>
          </a:xfrm>
          <a:prstGeom prst="rect">
            <a:avLst/>
          </a:prstGeom>
          <a:solidFill>
            <a:srgbClr val="2B2B2B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28346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26080" y="1965960"/>
            <a:ext cx="274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1965960"/>
            <a:ext cx="274320" cy="822960"/>
          </a:xfrm>
          <a:prstGeom prst="rect">
            <a:avLst/>
          </a:prstGeom>
          <a:solidFill>
            <a:srgbClr val="2B2B2B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1965960"/>
            <a:ext cx="274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28346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69080" y="196596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1965960"/>
            <a:ext cx="411480" cy="411480"/>
          </a:xfrm>
          <a:prstGeom prst="rect">
            <a:avLst/>
          </a:prstGeom>
          <a:solidFill>
            <a:srgbClr val="2B2B2B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080" y="2377440"/>
            <a:ext cx="411480" cy="411480"/>
          </a:xfrm>
          <a:prstGeom prst="rect">
            <a:avLst/>
          </a:prstGeom>
          <a:solidFill>
            <a:srgbClr val="2B2B2B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237744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5566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2834640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1546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66E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Feature value  =  Σ(white pixels) − Σ(dark pixels)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94960" y="182880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96128" y="196596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F8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Viola–Jones (2001)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596128" y="2267712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real-time face detector — the green box in every early digital camera. Built entirely on Haar features.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394960" y="3200400"/>
            <a:ext cx="3246120" cy="1508760"/>
          </a:xfrm>
          <a:prstGeom prst="roundRect">
            <a:avLst>
              <a:gd name="adj" fmla="val 5455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96128" y="33284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B2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 was fast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596128" y="3621024"/>
            <a:ext cx="28346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Integral image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rectangle sum in 4 lookups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Cascade of classifiers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 empty regions early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· CASE STUDY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Haar features find a face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Viola–Jones (2001): the features aren't random — they line up with the real light-and-dark structure of a face.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1965960"/>
            <a:ext cx="2468880" cy="2606040"/>
          </a:xfrm>
          <a:prstGeom prst="roundRect">
            <a:avLst>
              <a:gd name="adj" fmla="val 4444"/>
            </a:avLst>
          </a:prstGeom>
          <a:solidFill>
            <a:srgbClr val="EBE4DA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2194560"/>
            <a:ext cx="1645920" cy="2148840"/>
          </a:xfrm>
          <a:prstGeom prst="ellipse">
            <a:avLst/>
          </a:prstGeom>
          <a:solidFill>
            <a:srgbClr val="D8C3A8"/>
          </a:solidFill>
        </p:spPr>
      </p:sp>
      <p:sp>
        <p:nvSpPr>
          <p:cNvPr id="21" name="Shape 19"/>
          <p:cNvSpPr/>
          <p:nvPr/>
        </p:nvSpPr>
        <p:spPr>
          <a:xfrm>
            <a:off x="1252728" y="2807208"/>
            <a:ext cx="1335024" cy="292608"/>
          </a:xfrm>
          <a:prstGeom prst="rect">
            <a:avLst/>
          </a:prstGeom>
          <a:solidFill>
            <a:srgbClr val="2B2B2B">
              <a:alpha val="78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2728" y="3099816"/>
            <a:ext cx="1335024" cy="274320"/>
          </a:xfrm>
          <a:prstGeom prst="rect">
            <a:avLst/>
          </a:prstGeom>
          <a:solidFill>
            <a:srgbClr val="FFFFFF">
              <a:alpha val="7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28254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730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36192" y="3337560"/>
            <a:ext cx="256032" cy="548640"/>
          </a:xfrm>
          <a:prstGeom prst="rect">
            <a:avLst/>
          </a:prstGeom>
          <a:solidFill>
            <a:srgbClr val="2B2B2B">
              <a:alpha val="70000"/>
            </a:srgbClr>
          </a:solidFill>
          <a:ln w="19050">
            <a:solidFill>
              <a:srgbClr val="17B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92224" y="3337560"/>
            <a:ext cx="256032" cy="548640"/>
          </a:xfrm>
          <a:prstGeom prst="rect">
            <a:avLst/>
          </a:prstGeom>
          <a:solidFill>
            <a:srgbClr val="FFFFFF">
              <a:alpha val="75000"/>
            </a:srgbClr>
          </a:solidFill>
          <a:ln w="19050">
            <a:solidFill>
              <a:srgbClr val="17B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48256" y="3337560"/>
            <a:ext cx="256032" cy="548640"/>
          </a:xfrm>
          <a:prstGeom prst="rect">
            <a:avLst/>
          </a:prstGeom>
          <a:solidFill>
            <a:srgbClr val="2B2B2B">
              <a:alpha val="70000"/>
            </a:srgbClr>
          </a:solidFill>
          <a:ln w="19050">
            <a:solidFill>
              <a:srgbClr val="17B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40864" y="34747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4608576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Haar features on a face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20440" y="1920240"/>
            <a:ext cx="5120640" cy="841248"/>
          </a:xfrm>
          <a:prstGeom prst="roundRect">
            <a:avLst>
              <a:gd name="adj" fmla="val 9783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85032" y="20848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685032" y="2084832"/>
            <a:ext cx="502920" cy="50292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32" name="Text 30"/>
          <p:cNvSpPr/>
          <p:nvPr/>
        </p:nvSpPr>
        <p:spPr>
          <a:xfrm>
            <a:off x="3685032" y="20848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343400" y="1993392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Eye region is darker than the cheeks  </a:t>
            </a: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a two-rectangle feature captures that horizontal contrast.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20440" y="2880360"/>
            <a:ext cx="5120640" cy="841248"/>
          </a:xfrm>
          <a:prstGeom prst="roundRect">
            <a:avLst>
              <a:gd name="adj" fmla="val 9783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85032" y="3044952"/>
            <a:ext cx="502920" cy="502920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36" name="Text 34"/>
          <p:cNvSpPr/>
          <p:nvPr/>
        </p:nvSpPr>
        <p:spPr>
          <a:xfrm>
            <a:off x="3685032" y="30449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343400" y="2953512"/>
            <a:ext cx="4114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Nose bridge is brighter than the eye sockets either side  </a:t>
            </a: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a three-rectangle feature.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20440" y="3840480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DETECTION PIPELINE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20440" y="411480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E1330"/>
          </a:solidFill>
        </p:spPr>
      </p:sp>
      <p:sp>
        <p:nvSpPr>
          <p:cNvPr id="40" name="Text 38"/>
          <p:cNvSpPr/>
          <p:nvPr/>
        </p:nvSpPr>
        <p:spPr>
          <a:xfrm>
            <a:off x="3611880" y="417880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windows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11880" y="437997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78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a box over the image, every size &amp; position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5129784" y="4315968"/>
            <a:ext cx="146304" cy="237744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43" name="Shape 41"/>
          <p:cNvSpPr/>
          <p:nvPr/>
        </p:nvSpPr>
        <p:spPr>
          <a:xfrm>
            <a:off x="5212080" y="411480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E1330"/>
          </a:solidFill>
        </p:spPr>
      </p:sp>
      <p:sp>
        <p:nvSpPr>
          <p:cNvPr id="44" name="Text 42"/>
          <p:cNvSpPr/>
          <p:nvPr/>
        </p:nvSpPr>
        <p:spPr>
          <a:xfrm>
            <a:off x="5303520" y="417880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AdaBoost picks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437997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78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the few features that best separate face / non-face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821424" y="4315968"/>
            <a:ext cx="146304" cy="237744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47" name="Shape 45"/>
          <p:cNvSpPr/>
          <p:nvPr/>
        </p:nvSpPr>
        <p:spPr>
          <a:xfrm>
            <a:off x="6903720" y="411480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0E1330"/>
          </a:solidFill>
        </p:spPr>
      </p:sp>
      <p:sp>
        <p:nvSpPr>
          <p:cNvPr id="48" name="Text 46"/>
          <p:cNvSpPr/>
          <p:nvPr/>
        </p:nvSpPr>
        <p:spPr>
          <a:xfrm>
            <a:off x="6995160" y="417880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Cascade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95160" y="437997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780" dirty="0">
                <a:solidFill>
                  <a:srgbClr val="AEB7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 empty windows in early, cheap stages → real-time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NETS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 · DEEP NETS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Convolution — the operation behind it all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a small kernel across the image; at each spot, multiply-and-sum. The kernel decides what to detect.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2057400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08176" y="2057400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92224" y="2057400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2441448"/>
            <a:ext cx="384048" cy="384048"/>
          </a:xfrm>
          <a:prstGeom prst="rect">
            <a:avLst/>
          </a:prstGeom>
          <a:solidFill>
            <a:srgbClr val="CDE9E6"/>
          </a:solidFill>
          <a:ln w="25400">
            <a:solidFill>
              <a:srgbClr val="17B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08176" y="2441448"/>
            <a:ext cx="384048" cy="384048"/>
          </a:xfrm>
          <a:prstGeom prst="rect">
            <a:avLst/>
          </a:prstGeom>
          <a:solidFill>
            <a:srgbClr val="CDE9E6"/>
          </a:solidFill>
          <a:ln w="25400">
            <a:solidFill>
              <a:srgbClr val="17B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92224" y="2441448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825496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" y="2825496"/>
            <a:ext cx="384048" cy="384048"/>
          </a:xfrm>
          <a:prstGeom prst="rect">
            <a:avLst/>
          </a:prstGeom>
          <a:solidFill>
            <a:srgbClr val="CDE9E6"/>
          </a:solidFill>
          <a:ln w="25400">
            <a:solidFill>
              <a:srgbClr val="17B2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08176" y="2825496"/>
            <a:ext cx="384048" cy="384048"/>
          </a:xfrm>
          <a:prstGeom prst="rect">
            <a:avLst/>
          </a:prstGeom>
          <a:solidFill>
            <a:srgbClr val="CDE9E6"/>
          </a:solidFill>
          <a:ln w="25400">
            <a:solidFill>
              <a:srgbClr val="17B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92224" y="2825496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3209544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4128" y="3209544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08176" y="3209544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92224" y="3209544"/>
            <a:ext cx="384048" cy="384048"/>
          </a:xfrm>
          <a:prstGeom prst="rect">
            <a:avLst/>
          </a:prstGeom>
          <a:solidFill>
            <a:srgbClr val="F0F2F8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1764792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679192" y="2249424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79192" y="2249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63240" y="2249424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63240" y="2249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47288" y="2249424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47288" y="22494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79192" y="2633472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9192" y="2633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063240" y="2633472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63240" y="2633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47288" y="2633472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47288" y="263347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679192" y="3017520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79192" y="3017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063240" y="3017520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63240" y="3017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447288" y="3017520"/>
            <a:ext cx="384048" cy="384048"/>
          </a:xfrm>
          <a:prstGeom prst="rect">
            <a:avLst/>
          </a:prstGeom>
          <a:solidFill>
            <a:srgbClr val="0E1330"/>
          </a:solidFill>
          <a:ln w="12700">
            <a:solidFill>
              <a:srgbClr val="17B2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47288" y="30175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2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679192" y="1956816"/>
            <a:ext cx="11521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Kernel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496312" y="3447288"/>
            <a:ext cx="151790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(edge detector)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014216" y="2633472"/>
            <a:ext cx="411480" cy="457200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57" name="Shape 55"/>
          <p:cNvSpPr/>
          <p:nvPr/>
        </p:nvSpPr>
        <p:spPr>
          <a:xfrm>
            <a:off x="4608576" y="2148840"/>
            <a:ext cx="2148840" cy="1152144"/>
          </a:xfrm>
          <a:prstGeom prst="roundRect">
            <a:avLst>
              <a:gd name="adj" fmla="val 7143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608576" y="2148840"/>
            <a:ext cx="2148840" cy="1152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2920" y="39776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66E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(f ∗ k)(i,j) = Σ Σ  f(i+m, j+n) · k(m,n)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02920" y="4315968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kernel, whole image</a:t>
            </a:r>
            <a:endParaRPr lang="en-US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weight-sharing makes it efficient and translation-tolerant — a cat is a cat wherever it appears.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NETS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 · DEEP NETS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Stack convolutions → features learn themselves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breakthrough: don't design the kernels — learn them from data. Depth builds a hierarchy of meaning.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965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0F2F8"/>
          </a:solidFill>
          <a:effectLst>
            <a:outerShdw blurRad="762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" y="2350008"/>
            <a:ext cx="14081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" y="2807208"/>
            <a:ext cx="14081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INPUT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39112" y="2505456"/>
            <a:ext cx="201168" cy="292608"/>
          </a:xfrm>
          <a:prstGeom prst="chevron">
            <a:avLst/>
          </a:prstGeom>
          <a:solidFill>
            <a:srgbClr val="D8DEEC"/>
          </a:solidFill>
        </p:spPr>
      </p:sp>
      <p:sp>
        <p:nvSpPr>
          <p:cNvPr id="23" name="Shape 21"/>
          <p:cNvSpPr/>
          <p:nvPr/>
        </p:nvSpPr>
        <p:spPr>
          <a:xfrm>
            <a:off x="2221992" y="1965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7F6F5"/>
          </a:solidFill>
          <a:effectLst>
            <a:outerShdw blurRad="762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95144" y="2350008"/>
            <a:ext cx="14081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8F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Edges &amp; blobs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95144" y="2807208"/>
            <a:ext cx="14081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LAYERS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758184" y="2505456"/>
            <a:ext cx="201168" cy="292608"/>
          </a:xfrm>
          <a:prstGeom prst="chevron">
            <a:avLst/>
          </a:prstGeom>
          <a:solidFill>
            <a:srgbClr val="D8DEEC"/>
          </a:solidFill>
        </p:spPr>
      </p:sp>
      <p:sp>
        <p:nvSpPr>
          <p:cNvPr id="27" name="Shape 25"/>
          <p:cNvSpPr/>
          <p:nvPr/>
        </p:nvSpPr>
        <p:spPr>
          <a:xfrm>
            <a:off x="3941064" y="1965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CEEFC"/>
          </a:solidFill>
          <a:effectLst>
            <a:outerShdw blurRad="762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014216" y="2350008"/>
            <a:ext cx="14081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Textures &amp; parts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14216" y="2807208"/>
            <a:ext cx="14081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MID LAYERS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77256" y="2505456"/>
            <a:ext cx="201168" cy="292608"/>
          </a:xfrm>
          <a:prstGeom prst="chevron">
            <a:avLst/>
          </a:prstGeom>
          <a:solidFill>
            <a:srgbClr val="D8DEEC"/>
          </a:solidFill>
        </p:spPr>
      </p:sp>
      <p:sp>
        <p:nvSpPr>
          <p:cNvPr id="31" name="Shape 29"/>
          <p:cNvSpPr/>
          <p:nvPr/>
        </p:nvSpPr>
        <p:spPr>
          <a:xfrm>
            <a:off x="5660136" y="1965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DF1DD"/>
          </a:solidFill>
          <a:effectLst>
            <a:outerShdw blurRad="762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33288" y="2350008"/>
            <a:ext cx="14081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57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33288" y="2807208"/>
            <a:ext cx="14081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LAYERS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96328" y="2505456"/>
            <a:ext cx="201168" cy="292608"/>
          </a:xfrm>
          <a:prstGeom prst="chevron">
            <a:avLst/>
          </a:prstGeom>
          <a:solidFill>
            <a:srgbClr val="D8DEEC"/>
          </a:solidFill>
        </p:spPr>
      </p:sp>
      <p:sp>
        <p:nvSpPr>
          <p:cNvPr id="35" name="Shape 33"/>
          <p:cNvSpPr/>
          <p:nvPr/>
        </p:nvSpPr>
        <p:spPr>
          <a:xfrm>
            <a:off x="7379208" y="196596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0E1330"/>
          </a:solidFill>
          <a:effectLst>
            <a:outerShdw blurRad="762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52360" y="2350008"/>
            <a:ext cx="140817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/ embedding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52360" y="2807208"/>
            <a:ext cx="140817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" y="34472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Increasing abstraction  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3977640"/>
            <a:ext cx="8138160" cy="777240"/>
          </a:xfrm>
          <a:prstGeom prst="roundRect">
            <a:avLst>
              <a:gd name="adj" fmla="val 10588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Milestones:  </a:t>
            </a:r>
            <a:r>
              <a:rPr lang="en-US" sz="120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AlexNet (2012) shattered the ImageNet benchmark · ResNet (2015) went 100+ layers deep · the Vision Transformer (2020) later replaced convolution with attention — the encoder VLMs use today.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NETS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Classical features vs. learned features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02920" y="1572768"/>
          <a:ext cx="8138160" cy="2889504"/>
        </p:xfrm>
        <a:graphic>
          <a:graphicData uri="http://schemas.openxmlformats.org/drawingml/2006/table">
            <a:tbl>
              <a:tblPr/>
              <a:tblGrid>
                <a:gridCol w="2377440"/>
                <a:gridCol w="2880360"/>
                <a:gridCol w="2880360"/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Classical  (PCA · Haar)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6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Deep learning  (CNN · ViT)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B2A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Who designs features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Human engineer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model, from data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needed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Little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Large (millions of images)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Compute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(GPUs)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Flexibility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narrow task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Transfers across tasks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Interpretability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— you see the math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Lower — learned &amp; opaque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Where it lives today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Edge, embedded, preprocessing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44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Backbone of every modern VLM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didn't delete classical methods — it absorbed the job of feature design.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498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Teaching vision to speak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CAD2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CNN can say “cat.”  It cannot say “a ginger cat asleep on a warm keyboard.”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CAD2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 get there, vision has to be connected to language.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52360" y="1371600"/>
            <a:ext cx="960120" cy="960120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1991" y="1621231"/>
            <a:ext cx="460858" cy="460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" y="3977640"/>
            <a:ext cx="73152" cy="73152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8" name="Shape 5"/>
          <p:cNvSpPr/>
          <p:nvPr/>
        </p:nvSpPr>
        <p:spPr>
          <a:xfrm>
            <a:off x="640080" y="3977640"/>
            <a:ext cx="73152" cy="73152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9" name="Shape 6"/>
          <p:cNvSpPr/>
          <p:nvPr/>
        </p:nvSpPr>
        <p:spPr>
          <a:xfrm>
            <a:off x="758952" y="3977640"/>
            <a:ext cx="73152" cy="73152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10" name="Shape 7"/>
          <p:cNvSpPr/>
          <p:nvPr/>
        </p:nvSpPr>
        <p:spPr>
          <a:xfrm>
            <a:off x="877824" y="3977640"/>
            <a:ext cx="73152" cy="73152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11" name="Shape 8"/>
          <p:cNvSpPr/>
          <p:nvPr/>
        </p:nvSpPr>
        <p:spPr>
          <a:xfrm>
            <a:off x="996696" y="3977640"/>
            <a:ext cx="73152" cy="73152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2" name="Shape 9"/>
          <p:cNvSpPr/>
          <p:nvPr/>
        </p:nvSpPr>
        <p:spPr>
          <a:xfrm>
            <a:off x="1115568" y="3977640"/>
            <a:ext cx="73152" cy="73152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0"/>
          <p:cNvSpPr/>
          <p:nvPr/>
        </p:nvSpPr>
        <p:spPr>
          <a:xfrm>
            <a:off x="1234440" y="3977640"/>
            <a:ext cx="73152" cy="73152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4" name="Shape 11"/>
          <p:cNvSpPr/>
          <p:nvPr/>
        </p:nvSpPr>
        <p:spPr>
          <a:xfrm>
            <a:off x="1353312" y="3977640"/>
            <a:ext cx="73152" cy="73152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5" name="Shape 12"/>
          <p:cNvSpPr/>
          <p:nvPr/>
        </p:nvSpPr>
        <p:spPr>
          <a:xfrm>
            <a:off x="1472184" y="3977640"/>
            <a:ext cx="73152" cy="73152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6" name="Shape 13"/>
          <p:cNvSpPr/>
          <p:nvPr/>
        </p:nvSpPr>
        <p:spPr>
          <a:xfrm>
            <a:off x="1591056" y="3977640"/>
            <a:ext cx="73152" cy="73152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7" name="Shape 14"/>
          <p:cNvSpPr/>
          <p:nvPr/>
        </p:nvSpPr>
        <p:spPr>
          <a:xfrm>
            <a:off x="1709928" y="3977640"/>
            <a:ext cx="73152" cy="73152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8" name="Shape 15"/>
          <p:cNvSpPr/>
          <p:nvPr/>
        </p:nvSpPr>
        <p:spPr>
          <a:xfrm>
            <a:off x="1828800" y="3977640"/>
            <a:ext cx="73152" cy="73152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9" name="Shape 16"/>
          <p:cNvSpPr/>
          <p:nvPr/>
        </p:nvSpPr>
        <p:spPr>
          <a:xfrm>
            <a:off x="1947672" y="3977640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0" name="Shape 17"/>
          <p:cNvSpPr/>
          <p:nvPr/>
        </p:nvSpPr>
        <p:spPr>
          <a:xfrm>
            <a:off x="2066544" y="3977640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1" name="Shape 18"/>
          <p:cNvSpPr/>
          <p:nvPr/>
        </p:nvSpPr>
        <p:spPr>
          <a:xfrm>
            <a:off x="2185416" y="3977640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2" name="Shape 19"/>
          <p:cNvSpPr/>
          <p:nvPr/>
        </p:nvSpPr>
        <p:spPr>
          <a:xfrm>
            <a:off x="2304288" y="3977640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3" name="Shape 20"/>
          <p:cNvSpPr/>
          <p:nvPr/>
        </p:nvSpPr>
        <p:spPr>
          <a:xfrm>
            <a:off x="2423160" y="3977640"/>
            <a:ext cx="73152" cy="73152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4" name="Shape 21"/>
          <p:cNvSpPr/>
          <p:nvPr/>
        </p:nvSpPr>
        <p:spPr>
          <a:xfrm>
            <a:off x="2542032" y="3977640"/>
            <a:ext cx="73152" cy="73152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5" name="Shape 22"/>
          <p:cNvSpPr/>
          <p:nvPr/>
        </p:nvSpPr>
        <p:spPr>
          <a:xfrm>
            <a:off x="2660904" y="3977640"/>
            <a:ext cx="73152" cy="73152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6" name="Shape 23"/>
          <p:cNvSpPr/>
          <p:nvPr/>
        </p:nvSpPr>
        <p:spPr>
          <a:xfrm>
            <a:off x="2779776" y="3977640"/>
            <a:ext cx="73152" cy="73152"/>
          </a:xfrm>
          <a:prstGeom prst="ellipse">
            <a:avLst/>
          </a:prstGeom>
          <a:solidFill>
            <a:srgbClr val="FF7A66"/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CROSS-MODAL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4 · CROSS-MODAL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CLIP — put images and text in one space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on 400M image–caption pairs so that a picture and its description land at the same point.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92024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2084832"/>
            <a:ext cx="566928" cy="566928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2232233"/>
            <a:ext cx="272125" cy="2721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25880" y="2084832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encoder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 / CNN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3063240"/>
            <a:ext cx="2286000" cy="914400"/>
          </a:xfrm>
          <a:prstGeom prst="roundRect">
            <a:avLst>
              <a:gd name="adj" fmla="val 9000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58368" y="3227832"/>
            <a:ext cx="566928" cy="56692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69" y="3375233"/>
            <a:ext cx="272125" cy="27212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325880" y="3227832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encoder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788920" y="2377440"/>
            <a:ext cx="1051560" cy="594360"/>
          </a:xfrm>
          <a:prstGeom prst="line">
            <a:avLst/>
          </a:prstGeom>
          <a:noFill/>
          <a:ln w="25400">
            <a:solidFill>
              <a:srgbClr val="17B2A8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2788920" y="2926080"/>
            <a:ext cx="1051560" cy="594360"/>
          </a:xfrm>
          <a:prstGeom prst="line">
            <a:avLst/>
          </a:prstGeom>
          <a:noFill/>
          <a:ln w="25400">
            <a:solidFill>
              <a:srgbClr val="5566E0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3886200" y="1965960"/>
            <a:ext cx="2148840" cy="1965960"/>
          </a:xfrm>
          <a:prstGeom prst="roundRect">
            <a:avLst>
              <a:gd name="adj" fmla="val 4186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3886200" y="2084832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 space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4343400" y="2880360"/>
            <a:ext cx="128016" cy="128016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32" name="Shape 28"/>
          <p:cNvSpPr/>
          <p:nvPr/>
        </p:nvSpPr>
        <p:spPr>
          <a:xfrm>
            <a:off x="4526280" y="3063240"/>
            <a:ext cx="128016" cy="128016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33" name="Shape 29"/>
          <p:cNvSpPr/>
          <p:nvPr/>
        </p:nvSpPr>
        <p:spPr>
          <a:xfrm>
            <a:off x="5120640" y="3291840"/>
            <a:ext cx="128016" cy="128016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34" name="Shape 30"/>
          <p:cNvSpPr/>
          <p:nvPr/>
        </p:nvSpPr>
        <p:spPr>
          <a:xfrm>
            <a:off x="5394960" y="2926080"/>
            <a:ext cx="128016" cy="128016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35" name="Shape 31"/>
          <p:cNvSpPr/>
          <p:nvPr/>
        </p:nvSpPr>
        <p:spPr>
          <a:xfrm>
            <a:off x="4846320" y="3429000"/>
            <a:ext cx="128016" cy="128016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36" name="Text 32"/>
          <p:cNvSpPr/>
          <p:nvPr/>
        </p:nvSpPr>
        <p:spPr>
          <a:xfrm>
            <a:off x="3886200" y="356616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“cat”  ≈  🐱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217920" y="1965960"/>
            <a:ext cx="2423160" cy="1965960"/>
          </a:xfrm>
          <a:prstGeom prst="roundRect">
            <a:avLst>
              <a:gd name="adj" fmla="val 4186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6400800" y="21031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B2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it's the hinge</a:t>
            </a:r>
            <a:endParaRPr lang="en-US" sz="1500" dirty="0"/>
          </a:p>
        </p:txBody>
      </p:sp>
      <p:sp>
        <p:nvSpPr>
          <p:cNvPr id="39" name="Text 35"/>
          <p:cNvSpPr/>
          <p:nvPr/>
        </p:nvSpPr>
        <p:spPr>
          <a:xfrm>
            <a:off x="6400800" y="2395728"/>
            <a:ext cx="21031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Zero-shot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by naming labels, no retraining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Language-native vision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encoder VLMs plug into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5 · VLMS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modern VLM recipe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Almost every open VLM — LLaVA, Qwen-VL, InternVL — follows the same three-part pattern.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920240"/>
            <a:ext cx="2578608" cy="2148840"/>
          </a:xfrm>
          <a:prstGeom prst="roundRect">
            <a:avLst>
              <a:gd name="adj" fmla="val 3830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63040" y="2176272"/>
            <a:ext cx="658368" cy="658368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216" y="2347448"/>
            <a:ext cx="316017" cy="31601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2944368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Vision encoder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4088" y="3337560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CLIP-based ViT, trained on millions of image–text pairs, turns the image into patch embeddings.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090672" y="2830068"/>
            <a:ext cx="219456" cy="329184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25" name="Shape 22"/>
          <p:cNvSpPr/>
          <p:nvPr/>
        </p:nvSpPr>
        <p:spPr>
          <a:xfrm>
            <a:off x="3264408" y="1920240"/>
            <a:ext cx="2578608" cy="2148840"/>
          </a:xfrm>
          <a:prstGeom prst="roundRect">
            <a:avLst>
              <a:gd name="adj" fmla="val 3830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224528" y="2176272"/>
            <a:ext cx="658368" cy="658368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704" y="2347448"/>
            <a:ext cx="316017" cy="31601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401568" y="2944368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Projector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3465576" y="3337560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Maps vision features into LLM tokens — a simple linear layer (LLaVA, VILA) or cross-attention (Llama 3.2 Vision).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852160" y="2830068"/>
            <a:ext cx="219456" cy="329184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31" name="Shape 27"/>
          <p:cNvSpPr/>
          <p:nvPr/>
        </p:nvSpPr>
        <p:spPr>
          <a:xfrm>
            <a:off x="6025896" y="1920240"/>
            <a:ext cx="2578608" cy="2148840"/>
          </a:xfrm>
          <a:prstGeom prst="roundRect">
            <a:avLst>
              <a:gd name="adj" fmla="val 3830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986016" y="2176272"/>
            <a:ext cx="658368" cy="65836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192" y="2347448"/>
            <a:ext cx="316017" cy="31601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63056" y="2944368"/>
            <a:ext cx="23042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Language model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6227064" y="3337560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pretrained LLM consumes image tokens + your text and generates the answer.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502920" y="4297680"/>
            <a:ext cx="8138160" cy="457200"/>
          </a:xfrm>
          <a:prstGeom prst="roundRect">
            <a:avLst>
              <a:gd name="adj" fmla="val 18000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LLM is barely changed. Most “building a VLM” is training the projector to translate pixels into language the LLM already understands.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5 · VLMS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happens when you ask a question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502920" y="1874520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" y="1956816"/>
            <a:ext cx="402336" cy="40233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255" y="2061423"/>
            <a:ext cx="193121" cy="19312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61288" y="1911096"/>
            <a:ext cx="21488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→ patches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291840" y="1911096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into ~256–576 patches, each embedded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" y="2478024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12648" y="2560320"/>
            <a:ext cx="402336" cy="40233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55" y="2664927"/>
            <a:ext cx="193121" cy="19312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61288" y="2514600"/>
            <a:ext cx="21488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Patches → image tokens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3291840" y="2514600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projector maps them into LLM token space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02920" y="3081528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2648" y="3163824"/>
            <a:ext cx="402336" cy="40233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" y="3268431"/>
            <a:ext cx="193121" cy="193121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61288" y="3118104"/>
            <a:ext cx="21488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joins in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3291840" y="3118104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“What is unusual here?” tokenised alongside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02920" y="3685032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12648" y="3767328"/>
            <a:ext cx="402336" cy="402336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" y="3871935"/>
            <a:ext cx="193121" cy="193121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61288" y="3721608"/>
            <a:ext cx="21488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reads both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3291840" y="3721608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mixes visual + text tokens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02920" y="4288536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612648" y="4370832"/>
            <a:ext cx="402336" cy="40233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255" y="4475439"/>
            <a:ext cx="193121" cy="193121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161288" y="4325112"/>
            <a:ext cx="21488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answer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3291840" y="4325112"/>
            <a:ext cx="2331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word at a time, autoregressively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5943600" y="1874520"/>
            <a:ext cx="2697480" cy="2834640"/>
          </a:xfrm>
          <a:prstGeom prst="roundRect">
            <a:avLst>
              <a:gd name="adj" fmla="val 3051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6126480" y="201168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6126480" y="226771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2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🖼️  photo of a cat on a laptop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6126480" y="2697480"/>
            <a:ext cx="2331720" cy="0"/>
          </a:xfrm>
          <a:prstGeom prst="line">
            <a:avLst/>
          </a:prstGeom>
          <a:noFill/>
          <a:ln w="12700">
            <a:solidFill>
              <a:srgbClr val="34406E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126480" y="2761488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
</a:t>
            </a:r>
            <a:r>
              <a:rPr lang="en-US" sz="11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“What is unusual about this scene?”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6126480" y="3456432"/>
            <a:ext cx="237744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
</a:t>
            </a:r>
            <a:r>
              <a:rPr lang="en-US" sz="1100" dirty="0">
                <a:solidFill>
                  <a:srgbClr val="CAD2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“The cat is sleeping directly on the keyboard, which would disrupt typing.”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5 · VLMS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a VLM is trained — three stages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NVIDIA, VLMs are built in stages: broad pretraining, then supervised fine-tuning, then optional PEFT.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81328" y="2093976"/>
            <a:ext cx="621792" cy="621792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2994" y="2255642"/>
            <a:ext cx="298460" cy="2984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2807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· Pretraining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5800" y="3154680"/>
            <a:ext cx="221284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 vision &amp; language on massive image–text pairs (e.g. CLIP-style contrastive learning).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0080" y="3895344"/>
            <a:ext cx="23042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&amp; GENERALITY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090672" y="2875788"/>
            <a:ext cx="219456" cy="329184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26" name="Shape 23"/>
          <p:cNvSpPr/>
          <p:nvPr/>
        </p:nvSpPr>
        <p:spPr>
          <a:xfrm>
            <a:off x="3264408" y="18745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242816" y="2093976"/>
            <a:ext cx="621792" cy="621792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482" y="2255642"/>
            <a:ext cx="298460" cy="2984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3401568" y="2807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 · Supervised fine-tuning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3447288" y="3154680"/>
            <a:ext cx="221284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Instruction-tune on curated image + question + answer data so it follows prompts and formats.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401568" y="3895344"/>
            <a:ext cx="23042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INSTRUCTION-FOLLOWING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5852160" y="2875788"/>
            <a:ext cx="219456" cy="329184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33" name="Shape 29"/>
          <p:cNvSpPr/>
          <p:nvPr/>
        </p:nvSpPr>
        <p:spPr>
          <a:xfrm>
            <a:off x="6025896" y="18745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7004304" y="2093976"/>
            <a:ext cx="621792" cy="621792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70" y="2255642"/>
            <a:ext cx="298460" cy="2984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163056" y="2807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 · PEFT (optional)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6208776" y="3154680"/>
            <a:ext cx="2212848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Parameter-efficient fine-tuning (e.g. LoRA) adapts it to YOUR domain on custom data.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163056" y="3895344"/>
            <a:ext cx="230428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SPECIALISATION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502920" y="4480560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 of thumb:  </a:t>
            </a:r>
            <a:r>
              <a:rPr lang="en-US" sz="11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rarely pretrain. You almost always prompt; you sometimes PEFT. That's the whole game.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5 · VLMS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ways models learn to align vision &amp; language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highlights two core pretraining strategies behind today's VLMs — often combined.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3977640" cy="2880360"/>
          </a:xfrm>
          <a:prstGeom prst="roundRect">
            <a:avLst>
              <a:gd name="adj" fmla="val 2857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2029968"/>
            <a:ext cx="566928" cy="566928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2177369"/>
            <a:ext cx="272125" cy="27212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206654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F8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Contrastive (CLIP)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3232" y="2697480"/>
            <a:ext cx="35661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 matching image–text pairs together in a shared space; push mismatches apart.</a:t>
            </a:r>
            <a:endParaRPr lang="en-US" sz="120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CLIP: 400M pairs → strong zero-shot classification. An image of a dog and the word “dog” land at nearby points.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8F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vision encoder most VLMs plug in.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663440" y="1828800"/>
            <a:ext cx="3977640" cy="2880360"/>
          </a:xfrm>
          <a:prstGeom prst="roundRect">
            <a:avLst>
              <a:gd name="adj" fmla="val 2857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73752" y="2029968"/>
            <a:ext cx="566928" cy="56692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153" y="2177369"/>
            <a:ext cx="272125" cy="27212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532120" y="206654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66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Masking (FLAVA)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873752" y="2697480"/>
            <a:ext cx="35661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Hide parts of the input and train the model to fill them back in.</a:t>
            </a:r>
            <a:endParaRPr lang="en-US" sz="120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Masked language: predict missing caption words from the image. Masked image: reconstruct hidden pixels from the caption.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FLAVA combines masking + contrastive, with a cross-attention multimodal encoder.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5 · VLMS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far VLMs have come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NVIDIA: capabilities have moved from single-image understanding to rich, multi-image and video reasoning.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2331720" cy="2788920"/>
          </a:xfrm>
          <a:prstGeom prst="roundRect">
            <a:avLst>
              <a:gd name="adj" fmla="val 3529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199339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39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Traditional CV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2377440"/>
            <a:ext cx="2011680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task, fixed classes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“cat vs dog”</a:t>
            </a:r>
            <a:endParaRPr lang="en-US" sz="1100" dirty="0"/>
          </a:p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OCR reads text but not layout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Retrain for every new class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89504" y="3063240"/>
            <a:ext cx="310896" cy="384048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23" name="Shape 21"/>
          <p:cNvSpPr/>
          <p:nvPr/>
        </p:nvSpPr>
        <p:spPr>
          <a:xfrm>
            <a:off x="3337560" y="1828800"/>
            <a:ext cx="2578608" cy="859536"/>
          </a:xfrm>
          <a:prstGeom prst="roundRect">
            <a:avLst>
              <a:gd name="adj" fmla="val 9574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83864" y="2002536"/>
            <a:ext cx="512064" cy="512064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7001" y="2135673"/>
            <a:ext cx="245791" cy="2457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05656" y="1920240"/>
            <a:ext cx="16642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&amp; contrast images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025896" y="1828800"/>
            <a:ext cx="2578608" cy="859536"/>
          </a:xfrm>
          <a:prstGeom prst="roundRect">
            <a:avLst>
              <a:gd name="adj" fmla="val 9574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72200" y="2002536"/>
            <a:ext cx="512064" cy="512064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337" y="2135673"/>
            <a:ext cx="245791" cy="24579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793992" y="1920240"/>
            <a:ext cx="16642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Accurately read text &amp; docs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3337560" y="2788920"/>
            <a:ext cx="2578608" cy="859536"/>
          </a:xfrm>
          <a:prstGeom prst="roundRect">
            <a:avLst>
              <a:gd name="adj" fmla="val 9574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483864" y="2962656"/>
            <a:ext cx="512064" cy="512064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001" y="3095793"/>
            <a:ext cx="245791" cy="245791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105656" y="2880360"/>
            <a:ext cx="16642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long videos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6025896" y="2788920"/>
            <a:ext cx="2578608" cy="859536"/>
          </a:xfrm>
          <a:prstGeom prst="roundRect">
            <a:avLst>
              <a:gd name="adj" fmla="val 9574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172200" y="2962656"/>
            <a:ext cx="512064" cy="512064"/>
          </a:xfrm>
          <a:prstGeom prst="ellipse">
            <a:avLst/>
          </a:prstGeom>
          <a:solidFill>
            <a:srgbClr val="0E8F8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337" y="3095793"/>
            <a:ext cx="245791" cy="245791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793992" y="2880360"/>
            <a:ext cx="16642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spatial understanding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3337560" y="3749040"/>
            <a:ext cx="2578608" cy="859536"/>
          </a:xfrm>
          <a:prstGeom prst="roundRect">
            <a:avLst>
              <a:gd name="adj" fmla="val 9574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483864" y="3922776"/>
            <a:ext cx="512064" cy="512064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001" y="4055913"/>
            <a:ext cx="245791" cy="245791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105656" y="3840480"/>
            <a:ext cx="16642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Q&amp;A &amp; summarisation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025896" y="3749040"/>
            <a:ext cx="2578608" cy="859536"/>
          </a:xfrm>
          <a:prstGeom prst="roundRect">
            <a:avLst>
              <a:gd name="adj" fmla="val 9574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172200" y="3922776"/>
            <a:ext cx="512064" cy="512064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337" y="4055913"/>
            <a:ext cx="245791" cy="245791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793992" y="3840480"/>
            <a:ext cx="1664208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Instructed in natural language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5 · VLMS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2025 VLM landscape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recipe, at different scales and openness — pick by deployment constraints, not hype.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" y="1947672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GPT-4o / 4V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" y="2231136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2432304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Frontier reasoning, strong OCR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" y="2761488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Closed API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1828800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10712" y="1947672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Claude 3.5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10712" y="2231136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Anthropic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10712" y="2432304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Documents, charts, careful output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10712" y="2761488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Closed API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89320" y="1828800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53912" y="1947672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Gemini 1.5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53912" y="2231136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7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53912" y="2432304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Huge context, video &amp; audio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53912" y="2761488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57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Closed API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3127248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7512" y="3246120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LLaVA-1.6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67512" y="3529584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8F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source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7512" y="3730752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reference open recipe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" y="4059936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E8F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weights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46120" y="3127248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10712" y="3246120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Qwen2-VL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410712" y="3529584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Alibaba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10712" y="3730752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open model, any resolution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10712" y="4059936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weights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89320" y="3127248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53912" y="3246120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Molmo / Pixtral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153912" y="3529584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7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Allen AI / Mistral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53912" y="3730752"/>
            <a:ext cx="23225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Open, grounding &amp; pointing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53912" y="4059936"/>
            <a:ext cx="232257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57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weights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7 · CAPABILITIES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you can prompt a VLM to do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502920" y="182880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" y="2048256"/>
            <a:ext cx="658368" cy="658368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264" y="2219432"/>
            <a:ext cx="316017" cy="31601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2029968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Captioning &amp; VQA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1508760" y="2359152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“Describe this X-ray” · “How many people are in line?”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645152" y="182880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2048256"/>
            <a:ext cx="658368" cy="658368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496" y="2219432"/>
            <a:ext cx="316017" cy="31601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50992" y="2029968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Document understanding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5650992" y="2359152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invoices, forms &amp; receipts → structured JSON. No OCR pipeline.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02920" y="327355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04088" y="3493008"/>
            <a:ext cx="658368" cy="65836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64" y="3664184"/>
            <a:ext cx="316017" cy="31601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508760" y="34747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Grounding &amp; pointing</a:t>
            </a:r>
            <a:endParaRPr lang="en-US" sz="1550" dirty="0"/>
          </a:p>
        </p:txBody>
      </p:sp>
      <p:sp>
        <p:nvSpPr>
          <p:cNvPr id="32" name="Text 27"/>
          <p:cNvSpPr/>
          <p:nvPr/>
        </p:nvSpPr>
        <p:spPr>
          <a:xfrm>
            <a:off x="1508760" y="3803904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“Box the traffic light” → coordinates back for downstream tools.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4645152" y="327355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846320" y="3493008"/>
            <a:ext cx="658368" cy="658368"/>
          </a:xfrm>
          <a:prstGeom prst="ellipse">
            <a:avLst/>
          </a:prstGeom>
          <a:solidFill>
            <a:srgbClr val="0E8F8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496" y="3664184"/>
            <a:ext cx="316017" cy="316017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650992" y="34747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Chart &amp; diagram reading</a:t>
            </a:r>
            <a:endParaRPr lang="en-US" sz="1550" dirty="0"/>
          </a:p>
        </p:txBody>
      </p:sp>
      <p:sp>
        <p:nvSpPr>
          <p:cNvPr id="37" name="Text 31"/>
          <p:cNvSpPr/>
          <p:nvPr/>
        </p:nvSpPr>
        <p:spPr>
          <a:xfrm>
            <a:off x="5650992" y="3803904"/>
            <a:ext cx="27889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values from a plot; explain an architecture diagram.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 III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6809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VLM playbook — from using to tuning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880360"/>
            <a:ext cx="7680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AD2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actually get value from a VLM in practice: prompt it well, ground it in your data,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AD2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fine-tune only when you must, and evaluate before you trust 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52360" y="1371600"/>
            <a:ext cx="960120" cy="960120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1991" y="1621231"/>
            <a:ext cx="460858" cy="4608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" y="4114800"/>
            <a:ext cx="73152" cy="73152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8" name="Shape 5"/>
          <p:cNvSpPr/>
          <p:nvPr/>
        </p:nvSpPr>
        <p:spPr>
          <a:xfrm>
            <a:off x="640080" y="4114800"/>
            <a:ext cx="73152" cy="73152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9" name="Shape 6"/>
          <p:cNvSpPr/>
          <p:nvPr/>
        </p:nvSpPr>
        <p:spPr>
          <a:xfrm>
            <a:off x="758952" y="4114800"/>
            <a:ext cx="73152" cy="73152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10" name="Shape 7"/>
          <p:cNvSpPr/>
          <p:nvPr/>
        </p:nvSpPr>
        <p:spPr>
          <a:xfrm>
            <a:off x="877824" y="4114800"/>
            <a:ext cx="73152" cy="73152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11" name="Shape 8"/>
          <p:cNvSpPr/>
          <p:nvPr/>
        </p:nvSpPr>
        <p:spPr>
          <a:xfrm>
            <a:off x="996696" y="4114800"/>
            <a:ext cx="73152" cy="73152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2" name="Shape 9"/>
          <p:cNvSpPr/>
          <p:nvPr/>
        </p:nvSpPr>
        <p:spPr>
          <a:xfrm>
            <a:off x="1115568" y="4114800"/>
            <a:ext cx="73152" cy="73152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0"/>
          <p:cNvSpPr/>
          <p:nvPr/>
        </p:nvSpPr>
        <p:spPr>
          <a:xfrm>
            <a:off x="1234440" y="4114800"/>
            <a:ext cx="73152" cy="73152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4" name="Shape 11"/>
          <p:cNvSpPr/>
          <p:nvPr/>
        </p:nvSpPr>
        <p:spPr>
          <a:xfrm>
            <a:off x="1353312" y="4114800"/>
            <a:ext cx="73152" cy="73152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5" name="Shape 12"/>
          <p:cNvSpPr/>
          <p:nvPr/>
        </p:nvSpPr>
        <p:spPr>
          <a:xfrm>
            <a:off x="1472184" y="4114800"/>
            <a:ext cx="73152" cy="73152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6" name="Shape 13"/>
          <p:cNvSpPr/>
          <p:nvPr/>
        </p:nvSpPr>
        <p:spPr>
          <a:xfrm>
            <a:off x="1591056" y="4114800"/>
            <a:ext cx="73152" cy="73152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7" name="Shape 14"/>
          <p:cNvSpPr/>
          <p:nvPr/>
        </p:nvSpPr>
        <p:spPr>
          <a:xfrm>
            <a:off x="1709928" y="4114800"/>
            <a:ext cx="73152" cy="73152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8" name="Shape 15"/>
          <p:cNvSpPr/>
          <p:nvPr/>
        </p:nvSpPr>
        <p:spPr>
          <a:xfrm>
            <a:off x="1828800" y="4114800"/>
            <a:ext cx="73152" cy="73152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19" name="Shape 16"/>
          <p:cNvSpPr/>
          <p:nvPr/>
        </p:nvSpPr>
        <p:spPr>
          <a:xfrm>
            <a:off x="1947672" y="4114800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0" name="Shape 17"/>
          <p:cNvSpPr/>
          <p:nvPr/>
        </p:nvSpPr>
        <p:spPr>
          <a:xfrm>
            <a:off x="2066544" y="4114800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1" name="Shape 18"/>
          <p:cNvSpPr/>
          <p:nvPr/>
        </p:nvSpPr>
        <p:spPr>
          <a:xfrm>
            <a:off x="2185416" y="4114800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2" name="Shape 19"/>
          <p:cNvSpPr/>
          <p:nvPr/>
        </p:nvSpPr>
        <p:spPr>
          <a:xfrm>
            <a:off x="2304288" y="4114800"/>
            <a:ext cx="73152" cy="73152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23" name="Shape 20"/>
          <p:cNvSpPr/>
          <p:nvPr/>
        </p:nvSpPr>
        <p:spPr>
          <a:xfrm>
            <a:off x="2423160" y="4114800"/>
            <a:ext cx="73152" cy="73152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4" name="Shape 21"/>
          <p:cNvSpPr/>
          <p:nvPr/>
        </p:nvSpPr>
        <p:spPr>
          <a:xfrm>
            <a:off x="2542032" y="4114800"/>
            <a:ext cx="73152" cy="73152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5" name="Shape 22"/>
          <p:cNvSpPr/>
          <p:nvPr/>
        </p:nvSpPr>
        <p:spPr>
          <a:xfrm>
            <a:off x="2660904" y="4114800"/>
            <a:ext cx="73152" cy="73152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26" name="Shape 23"/>
          <p:cNvSpPr/>
          <p:nvPr/>
        </p:nvSpPr>
        <p:spPr>
          <a:xfrm>
            <a:off x="2779776" y="4114800"/>
            <a:ext cx="73152" cy="73152"/>
          </a:xfrm>
          <a:prstGeom prst="ellipse">
            <a:avLst/>
          </a:prstGeom>
          <a:solidFill>
            <a:srgbClr val="FF7A66"/>
          </a:solid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PLAYBOOK · OVERVIEW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adoption ladder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rung adds capability, cost and complexity. Most value is captured on the first two — don't skip ahead.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" y="1984248"/>
            <a:ext cx="329184" cy="329184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21" name="Text 19"/>
          <p:cNvSpPr/>
          <p:nvPr/>
        </p:nvSpPr>
        <p:spPr>
          <a:xfrm>
            <a:off x="649224" y="19842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1911096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 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017520" y="1911096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a hosted VLM as-is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1911096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Prototype, one-off analysis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2478024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" y="2587752"/>
            <a:ext cx="329184" cy="329184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27" name="Text 25"/>
          <p:cNvSpPr/>
          <p:nvPr/>
        </p:nvSpPr>
        <p:spPr>
          <a:xfrm>
            <a:off x="649224" y="25877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2514600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well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017520" y="2514600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 image + text prompts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2514600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production tasks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081528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" y="3191256"/>
            <a:ext cx="329184" cy="329184"/>
          </a:xfrm>
          <a:prstGeom prst="ellipse">
            <a:avLst/>
          </a:prstGeom>
          <a:solidFill>
            <a:srgbClr val="B5730A"/>
          </a:solidFill>
        </p:spPr>
      </p:sp>
      <p:sp>
        <p:nvSpPr>
          <p:cNvPr id="33" name="Text 31"/>
          <p:cNvSpPr/>
          <p:nvPr/>
        </p:nvSpPr>
        <p:spPr>
          <a:xfrm>
            <a:off x="649224" y="319125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80160" y="3118104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Ground with RAG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017520" y="3118104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 your docs / knowledge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3118104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B57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Facts must be current &amp; cited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3685032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9224" y="3794760"/>
            <a:ext cx="329184" cy="329184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39" name="Text 37"/>
          <p:cNvSpPr/>
          <p:nvPr/>
        </p:nvSpPr>
        <p:spPr>
          <a:xfrm>
            <a:off x="649224" y="37947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80160" y="3721608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Fine-tune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017520" y="3721608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LoRA on your labelled data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0" y="3721608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E8F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jargon, fixed formats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2920" y="4288536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CEAE6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9224" y="4398264"/>
            <a:ext cx="329184" cy="329184"/>
          </a:xfrm>
          <a:prstGeom prst="ellipse">
            <a:avLst/>
          </a:prstGeom>
          <a:solidFill>
            <a:srgbClr val="FF7A66"/>
          </a:solidFill>
        </p:spPr>
      </p:sp>
      <p:sp>
        <p:nvSpPr>
          <p:cNvPr id="45" name="Text 43"/>
          <p:cNvSpPr/>
          <p:nvPr/>
        </p:nvSpPr>
        <p:spPr>
          <a:xfrm>
            <a:off x="649224" y="43982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80160" y="4325112"/>
            <a:ext cx="1691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Evaluate &amp; ship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3017520" y="4325112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Measure, guardrail, monitor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0" y="4325112"/>
            <a:ext cx="26060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F7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— before &amp; after launch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PLAYBOOK · STEP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Prompting a VLM well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image is only half the prompt. How you ask determines whether you get a usable answer.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4709160" cy="512064"/>
          </a:xfrm>
          <a:prstGeom prst="roundRect">
            <a:avLst>
              <a:gd name="adj" fmla="val 16071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1929384"/>
            <a:ext cx="310896" cy="31089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5" y="2010217"/>
            <a:ext cx="149230" cy="1492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24712" y="1856232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 specific about the task  </a:t>
            </a: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“List every visible safety violation as bullet points” beats “describe this.”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" y="2404872"/>
            <a:ext cx="4709160" cy="512064"/>
          </a:xfrm>
          <a:prstGeom prst="roundRect">
            <a:avLst>
              <a:gd name="adj" fmla="val 16071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" y="2505456"/>
            <a:ext cx="310896" cy="31089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5" y="2586289"/>
            <a:ext cx="149230" cy="14923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24712" y="2432304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for structure  </a:t>
            </a: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JSON / a table with named fields — far easier to parse downstream.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" y="2980944"/>
            <a:ext cx="4709160" cy="512064"/>
          </a:xfrm>
          <a:prstGeom prst="roundRect">
            <a:avLst>
              <a:gd name="adj" fmla="val 16071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1792" y="3081528"/>
            <a:ext cx="310896" cy="31089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5" y="3162361"/>
            <a:ext cx="149230" cy="14923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124712" y="3008376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role &amp; context  </a:t>
            </a: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“You are a radiologist assistant…” primes domain vocabulary and tone.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02920" y="3557016"/>
            <a:ext cx="4709160" cy="512064"/>
          </a:xfrm>
          <a:prstGeom prst="roundRect">
            <a:avLst>
              <a:gd name="adj" fmla="val 16071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21792" y="3657600"/>
            <a:ext cx="310896" cy="31089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5" y="3738433"/>
            <a:ext cx="149230" cy="14923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124712" y="3584448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one example  </a:t>
            </a: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image→answer example (few-shot) sharply improves format adherence.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02920" y="4133088"/>
            <a:ext cx="4709160" cy="512064"/>
          </a:xfrm>
          <a:prstGeom prst="roundRect">
            <a:avLst>
              <a:gd name="adj" fmla="val 16071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621792" y="4233672"/>
            <a:ext cx="310896" cy="310896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625" y="4314505"/>
            <a:ext cx="149230" cy="14923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24712" y="416052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high detail wisely  </a:t>
            </a: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High-resolution mode helps small text &amp; fine detail — but costs more tokens.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486400" y="1828800"/>
            <a:ext cx="3154680" cy="1417320"/>
          </a:xfrm>
          <a:prstGeom prst="roundRect">
            <a:avLst>
              <a:gd name="adj" fmla="val 5806"/>
            </a:avLst>
          </a:prstGeom>
          <a:solidFill>
            <a:srgbClr val="FCEAE6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5669280" y="193852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23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VAGUE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5669280" y="21945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4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“What's in this image?”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5669280" y="2542032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rambling, unstructured, misses what you actually care about.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5486400" y="3383280"/>
            <a:ext cx="3154680" cy="1691640"/>
          </a:xfrm>
          <a:prstGeom prst="roundRect">
            <a:avLst>
              <a:gd name="adj" fmla="val 4865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5669280" y="349300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SPECIFIC + STRUCTURED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5669280" y="374904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“List each product on the shelf as JSON: {name, brand, price_tag_visible}.”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5669280" y="45262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parseable, scoped, repeatable across images.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PLAYBOOK · STEP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Ground it — RAG for images &amp; documents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VLM knows general facts, not your facts. Retrieval keeps answers current, specific and cited.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70432" y="2075688"/>
            <a:ext cx="603504" cy="603504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343" y="2232599"/>
            <a:ext cx="289682" cy="28968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12648" y="278892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Query + image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49224" y="3108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asks about a page / product / scan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450592" y="2642616"/>
            <a:ext cx="182880" cy="292608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25" name="Shape 22"/>
          <p:cNvSpPr/>
          <p:nvPr/>
        </p:nvSpPr>
        <p:spPr>
          <a:xfrm>
            <a:off x="2606040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73552" y="2075688"/>
            <a:ext cx="603504" cy="603504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463" y="2232599"/>
            <a:ext cx="289682" cy="28968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715768" y="278892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Retrieve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2752344" y="3108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 matching docs, specs or prior cases from your store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4553712" y="2642616"/>
            <a:ext cx="182880" cy="292608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31" name="Shape 27"/>
          <p:cNvSpPr/>
          <p:nvPr/>
        </p:nvSpPr>
        <p:spPr>
          <a:xfrm>
            <a:off x="4709160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5376672" y="2075688"/>
            <a:ext cx="603504" cy="603504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583" y="2232599"/>
            <a:ext cx="289682" cy="28968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818888" y="278892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Augment</a:t>
            </a:r>
            <a:endParaRPr lang="en-US" sz="1350" dirty="0"/>
          </a:p>
        </p:txBody>
      </p:sp>
      <p:sp>
        <p:nvSpPr>
          <p:cNvPr id="35" name="Text 30"/>
          <p:cNvSpPr/>
          <p:nvPr/>
        </p:nvSpPr>
        <p:spPr>
          <a:xfrm>
            <a:off x="4855464" y="3108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 the retrieved context alongside the image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6656832" y="2642616"/>
            <a:ext cx="182880" cy="292608"/>
          </a:xfrm>
          <a:prstGeom prst="chevron">
            <a:avLst/>
          </a:prstGeom>
          <a:solidFill>
            <a:srgbClr val="F5A623"/>
          </a:solidFill>
        </p:spPr>
      </p:sp>
      <p:sp>
        <p:nvSpPr>
          <p:cNvPr id="37" name="Shape 32"/>
          <p:cNvSpPr/>
          <p:nvPr/>
        </p:nvSpPr>
        <p:spPr>
          <a:xfrm>
            <a:off x="6812280" y="1874520"/>
            <a:ext cx="1938528" cy="1828800"/>
          </a:xfrm>
          <a:prstGeom prst="roundRect">
            <a:avLst>
              <a:gd name="adj" fmla="val 4500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7479792" y="2075688"/>
            <a:ext cx="603504" cy="603504"/>
          </a:xfrm>
          <a:prstGeom prst="ellipse">
            <a:avLst/>
          </a:prstGeom>
          <a:solidFill>
            <a:srgbClr val="0E8F8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703" y="2232599"/>
            <a:ext cx="289682" cy="28968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922008" y="2788920"/>
            <a:ext cx="171907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VLM answers</a:t>
            </a:r>
            <a:endParaRPr lang="en-US" sz="1350" dirty="0"/>
          </a:p>
        </p:txBody>
      </p:sp>
      <p:sp>
        <p:nvSpPr>
          <p:cNvPr id="41" name="Text 35"/>
          <p:cNvSpPr/>
          <p:nvPr/>
        </p:nvSpPr>
        <p:spPr>
          <a:xfrm>
            <a:off x="6958584" y="3108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grounded in evidence, with a citation back to the source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02920" y="3977640"/>
            <a:ext cx="8138160" cy="777240"/>
          </a:xfrm>
          <a:prstGeom prst="roundRect">
            <a:avLst>
              <a:gd name="adj" fmla="val 10588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713232" y="3977640"/>
            <a:ext cx="7772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matters: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grounding is the single biggest lever against hallucination. If an answer must be defensible — clinical, legal, financial — retrieve the source and make the model cite it.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6 · TUNING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ways to adapt a VLM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Ordered by cost. Most teams should start at the top and only move down when they must.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" y="2020824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17B2A8"/>
          </a:solidFill>
        </p:spPr>
      </p:sp>
      <p:sp>
        <p:nvSpPr>
          <p:cNvPr id="21" name="Text 19"/>
          <p:cNvSpPr/>
          <p:nvPr/>
        </p:nvSpPr>
        <p:spPr>
          <a:xfrm>
            <a:off x="667512" y="2020824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1947672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Prompting &amp; RAG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1947672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TRAINING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120640" y="1947672"/>
            <a:ext cx="33832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Steer with instructions, examples, retrieved context. Try this first — it's free.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2615184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" y="2761488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5566E0"/>
          </a:solidFill>
        </p:spPr>
      </p:sp>
      <p:sp>
        <p:nvSpPr>
          <p:cNvPr id="27" name="Text 25"/>
          <p:cNvSpPr/>
          <p:nvPr/>
        </p:nvSpPr>
        <p:spPr>
          <a:xfrm>
            <a:off x="667512" y="2761488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$$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2688336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LoRA / PEFT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749040" y="2688336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56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 TRAINING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120640" y="2688336"/>
            <a:ext cx="33832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Freeze the model; train tiny low-rank adapters. ~1% of parameters, one GPU.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355848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7512" y="3502152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B5730A"/>
          </a:solidFill>
        </p:spPr>
      </p:sp>
      <p:sp>
        <p:nvSpPr>
          <p:cNvPr id="33" name="Text 31"/>
          <p:cNvSpPr/>
          <p:nvPr/>
        </p:nvSpPr>
        <p:spPr>
          <a:xfrm>
            <a:off x="667512" y="3502152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$$$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600200" y="3429000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Instruction tuning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749040" y="3429000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573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20640" y="3429000"/>
            <a:ext cx="33832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Fine-tune on your image→answer pairs so outputs match your task and format.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4096512"/>
            <a:ext cx="8138160" cy="658368"/>
          </a:xfrm>
          <a:prstGeom prst="roundRect">
            <a:avLst>
              <a:gd name="adj" fmla="val 12500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7512" y="4242816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FF7A66"/>
          </a:solidFill>
        </p:spPr>
      </p:sp>
      <p:sp>
        <p:nvSpPr>
          <p:cNvPr id="39" name="Text 37"/>
          <p:cNvSpPr/>
          <p:nvPr/>
        </p:nvSpPr>
        <p:spPr>
          <a:xfrm>
            <a:off x="667512" y="4242816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$$$$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00200" y="416966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fine-tune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749040" y="4169664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7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HEAVY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20640" y="4169664"/>
            <a:ext cx="338328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the whole model. Rarely needed; risks forgetting general skills.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6 · TUNING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LoRA fine-tuning walkthrough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practical path most teams follow to specialise an open VLM like LLaVA or Qwen-VL.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2002536"/>
            <a:ext cx="384048" cy="3840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21" name="Text 19"/>
          <p:cNvSpPr/>
          <p:nvPr/>
        </p:nvSpPr>
        <p:spPr>
          <a:xfrm>
            <a:off x="685800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1929384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Curate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1929384"/>
            <a:ext cx="5257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image + instruction + ideal answer triples. Quality over quantity — a few thousand clean examples beats a noisy million.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587752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2715768"/>
            <a:ext cx="384048" cy="384048"/>
          </a:xfrm>
          <a:prstGeom prst="ellipse">
            <a:avLst/>
          </a:prstGeom>
          <a:solidFill>
            <a:srgbClr val="5566E0"/>
          </a:solidFill>
        </p:spPr>
      </p:sp>
      <p:sp>
        <p:nvSpPr>
          <p:cNvPr id="26" name="Text 24"/>
          <p:cNvSpPr/>
          <p:nvPr/>
        </p:nvSpPr>
        <p:spPr>
          <a:xfrm>
            <a:off x="685800" y="27157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2642616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Freeze &amp; attach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120" y="2642616"/>
            <a:ext cx="5257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vision encoder and LLM frozen. Insert LoRA adapters into the attention layers; optionally unfreeze the projector.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300984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5800" y="3429000"/>
            <a:ext cx="384048" cy="384048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31" name="Text 29"/>
          <p:cNvSpPr/>
          <p:nvPr/>
        </p:nvSpPr>
        <p:spPr>
          <a:xfrm>
            <a:off x="685800" y="34290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71600" y="335584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Train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246120" y="3355848"/>
            <a:ext cx="5257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 fine-tuning on your triples. Small learning rate, 1–3 epochs, watch for overfitting on tiny sets.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014216"/>
            <a:ext cx="8138160" cy="640080"/>
          </a:xfrm>
          <a:prstGeom prst="roundRect">
            <a:avLst>
              <a:gd name="adj" fmla="val 12857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" y="4142232"/>
            <a:ext cx="384048" cy="384048"/>
          </a:xfrm>
          <a:prstGeom prst="ellipse">
            <a:avLst/>
          </a:prstGeom>
          <a:solidFill>
            <a:srgbClr val="0E8F86"/>
          </a:solidFill>
        </p:spPr>
      </p:sp>
      <p:sp>
        <p:nvSpPr>
          <p:cNvPr id="36" name="Text 34"/>
          <p:cNvSpPr/>
          <p:nvPr/>
        </p:nvSpPr>
        <p:spPr>
          <a:xfrm>
            <a:off x="685800" y="41422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71600" y="4069080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246120" y="4069080"/>
            <a:ext cx="5257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Hold-out set + task metrics + human review. Check it didn't forget general ability (regression test).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PLAYBOOK · STEP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is the fine-tune — curate it carefully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 quality is capped by data quality. Model tweaks rarely rescue a weak dataset.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3977640" cy="2880360"/>
          </a:xfrm>
          <a:prstGeom prst="roundRect">
            <a:avLst>
              <a:gd name="adj" fmla="val 2857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1993392"/>
            <a:ext cx="502920" cy="502920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124151"/>
            <a:ext cx="241402" cy="24140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98448" y="202996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8F8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713232" y="2606040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real inputs</a:t>
            </a:r>
            <a:endParaRPr lang="en-US" sz="115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cameras, angles, lighting your users will send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the answer you actually want</a:t>
            </a:r>
            <a:endParaRPr lang="en-US" sz="115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format, length and tone — the model copies it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 the edge cases</a:t>
            </a:r>
            <a:endParaRPr lang="en-US" sz="115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blurry, empty, adversarial and “none” examples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Double-label a sample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annotators → catch inconsistent ground truth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63440" y="1828800"/>
            <a:ext cx="3977640" cy="2880360"/>
          </a:xfrm>
          <a:prstGeom prst="roundRect">
            <a:avLst>
              <a:gd name="adj" fmla="val 2857"/>
            </a:avLst>
          </a:prstGeom>
          <a:solidFill>
            <a:srgbClr val="FCEAE6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1993392"/>
            <a:ext cx="502920" cy="502920"/>
          </a:xfrm>
          <a:prstGeom prst="ellipse">
            <a:avLst/>
          </a:prstGeom>
          <a:solidFill>
            <a:srgbClr val="FF7A6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79" y="2124151"/>
            <a:ext cx="241402" cy="24140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58968" y="202996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2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Avoid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4873752" y="2606040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Scraped / mismatched images</a:t>
            </a:r>
            <a:endParaRPr lang="en-US" sz="115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 nothing like production → learns the wrong thing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answer formats</a:t>
            </a:r>
            <a:endParaRPr lang="en-US" sz="115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learns the noise, not the task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easy examples</a:t>
            </a:r>
            <a:endParaRPr lang="en-US" sz="1150" dirty="0"/>
          </a:p>
          <a:p>
            <a:pPr marL="0" indent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 on the demo, fails on the messy real world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E24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Leaking test into train</a:t>
            </a:r>
            <a:endParaRPr lang="en-US" sz="115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inflated scores that collapse in production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D8DEEC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PLAYBOOK · STEP 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Evaluate, guardrail, then ship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VLM that demos well can still fail in production. Measure before you trust — and keep measuring after.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182880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2048256"/>
            <a:ext cx="658368" cy="658368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264" y="2219432"/>
            <a:ext cx="316017" cy="31601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08760" y="2029968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 the right thing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508760" y="2359152"/>
            <a:ext cx="27889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metrics + human review on a held-out set that mirrors production. Track a “don't-know” rate, not just accuracy.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645152" y="1828800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2048256"/>
            <a:ext cx="658368" cy="65836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496" y="2219432"/>
            <a:ext cx="316017" cy="31601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50992" y="2029968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Keep a human in the loop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650992" y="2359152"/>
            <a:ext cx="27889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high-stakes calls, the VLM drafts and a person approves. Route low-confidence cases to review.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02920" y="327355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CEAE6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704088" y="3493008"/>
            <a:ext cx="658368" cy="658368"/>
          </a:xfrm>
          <a:prstGeom prst="ellipse">
            <a:avLst/>
          </a:prstGeom>
          <a:solidFill>
            <a:srgbClr val="FF7A6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264" y="3664184"/>
            <a:ext cx="316017" cy="316017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1508760" y="34747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Guardrail the output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508760" y="3803904"/>
            <a:ext cx="27889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 to a schema, validate fields, refuse out-of-scope images, and log every decision for audit.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645152" y="3273552"/>
            <a:ext cx="3977640" cy="1298448"/>
          </a:xfrm>
          <a:prstGeom prst="roundRect">
            <a:avLst>
              <a:gd name="adj" fmla="val 6338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4846320" y="3493008"/>
            <a:ext cx="658368" cy="658368"/>
          </a:xfrm>
          <a:prstGeom prst="ellipse">
            <a:avLst/>
          </a:prstGeom>
          <a:solidFill>
            <a:srgbClr val="B5730A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496" y="3664184"/>
            <a:ext cx="316017" cy="316017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650992" y="3474720"/>
            <a:ext cx="2788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Watch cost, latency &amp; drift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5650992" y="3803904"/>
            <a:ext cx="278892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Right-size the model and image resolution; cache; and monitor for input drift after launch.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7 · APPLIED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VLMs create value today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502920" y="1783080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FCEAE6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solidFill>
            <a:srgbClr val="FF7A6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" y="2113361"/>
            <a:ext cx="272125" cy="27212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25880" y="2002536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" y="249631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radiology reads, flag anomalies, structure clinical images — always human-checked.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46120" y="1783080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29000" y="1965960"/>
            <a:ext cx="566928" cy="566928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01" y="2113361"/>
            <a:ext cx="272125" cy="27212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069080" y="2002536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Retail &amp; e-commerce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429000" y="249631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Auto-tag catalogue photos, visual search, check shelf compliance from store images.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989320" y="1783080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72200" y="1965960"/>
            <a:ext cx="566928" cy="56692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601" y="2113361"/>
            <a:ext cx="272125" cy="27212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12280" y="2002536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Robotics &amp; autonomy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172200" y="249631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camera feeds into grounded instructions and scene understanding for planning.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02920" y="3191256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85800" y="3374136"/>
            <a:ext cx="566928" cy="566928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" y="3521537"/>
            <a:ext cx="272125" cy="27212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25880" y="341071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Document &amp; finance AI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685800" y="390448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fields from invoices, IDs and forms into structured data — no template rules.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246120" y="3191256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429000" y="3374136"/>
            <a:ext cx="566928" cy="566928"/>
          </a:xfrm>
          <a:prstGeom prst="ellipse">
            <a:avLst/>
          </a:prstGeom>
          <a:solidFill>
            <a:srgbClr val="0E8F8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401" y="3521537"/>
            <a:ext cx="272125" cy="27212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069080" y="341071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Accessibility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429000" y="390448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Rich scene descriptions and read-aloud for blind and low-vision users.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5989320" y="3191256"/>
            <a:ext cx="2651760" cy="1280160"/>
          </a:xfrm>
          <a:prstGeom prst="roundRect">
            <a:avLst>
              <a:gd name="adj" fmla="val 6429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172200" y="3374136"/>
            <a:ext cx="566928" cy="566928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601" y="3521537"/>
            <a:ext cx="272125" cy="27212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812280" y="3410712"/>
            <a:ext cx="1691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Industrial inspection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6172200" y="3904488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defects, read gauges and verify assembly from production-line cameras.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PLAYBOOK · MEASURE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field benchmarks VLMs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Beyond your own test set, standard public benchmarks let you compare models. Most use multiple-choice questions over images.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1810512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195681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2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MMMU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22860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College-level multi-discipline reasoning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1810512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29000" y="195681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66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DocVQA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22860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over document images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1810512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195681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ChartQA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2200" y="22860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&amp; reasoning over charts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2980944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E7F6F5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312724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F8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MathVista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3456432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mathematical reasoning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46120" y="2980944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ECEE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29000" y="312724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566E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Video-MME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29000" y="3456432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Long-video understanding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2980944"/>
            <a:ext cx="2651760" cy="1051560"/>
          </a:xfrm>
          <a:prstGeom prst="roundRect">
            <a:avLst>
              <a:gd name="adj" fmla="val 7826"/>
            </a:avLst>
          </a:prstGeom>
          <a:solidFill>
            <a:srgbClr val="FDF1DD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72200" y="312724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VQA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72200" y="3456432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200k+ images, Q&amp;A — a training &amp; eval staple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4251960"/>
            <a:ext cx="8138160" cy="502920"/>
          </a:xfrm>
          <a:prstGeom prst="roundRect">
            <a:avLst>
              <a:gd name="adj" fmla="val 16364"/>
            </a:avLst>
          </a:prstGeom>
          <a:solidFill>
            <a:srgbClr val="0E1330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3232" y="425196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Reality check: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leaderboards tell you general capability, not fitness for YOUR task. Always confirm on your own held-out data before shipping.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3" name="Shape 1"/>
          <p:cNvSpPr/>
          <p:nvPr/>
        </p:nvSpPr>
        <p:spPr>
          <a:xfrm>
            <a:off x="523036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41848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5" name="Shape 3"/>
          <p:cNvSpPr/>
          <p:nvPr/>
        </p:nvSpPr>
        <p:spPr>
          <a:xfrm>
            <a:off x="5797296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08776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7" name="Shape 5"/>
          <p:cNvSpPr/>
          <p:nvPr/>
        </p:nvSpPr>
        <p:spPr>
          <a:xfrm>
            <a:off x="6364224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75704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9" name="Shape 7"/>
          <p:cNvSpPr/>
          <p:nvPr/>
        </p:nvSpPr>
        <p:spPr>
          <a:xfrm>
            <a:off x="6931152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2632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1" name="Shape 9"/>
          <p:cNvSpPr/>
          <p:nvPr/>
        </p:nvSpPr>
        <p:spPr>
          <a:xfrm>
            <a:off x="7498080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384048"/>
            <a:ext cx="155448" cy="155448"/>
          </a:xfrm>
          <a:prstGeom prst="ellipse">
            <a:avLst/>
          </a:prstGeom>
          <a:solidFill>
            <a:srgbClr val="9FD9D4"/>
          </a:solidFill>
        </p:spPr>
      </p:sp>
      <p:sp>
        <p:nvSpPr>
          <p:cNvPr id="13" name="Shape 11"/>
          <p:cNvSpPr/>
          <p:nvPr/>
        </p:nvSpPr>
        <p:spPr>
          <a:xfrm>
            <a:off x="8065008" y="461772"/>
            <a:ext cx="4114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6488" y="384048"/>
            <a:ext cx="155448" cy="155448"/>
          </a:xfrm>
          <a:prstGeom prst="ellipse">
            <a:avLst/>
          </a:prstGeom>
          <a:solidFill>
            <a:srgbClr val="17B2A8"/>
          </a:solidFill>
        </p:spPr>
      </p:sp>
      <p:sp>
        <p:nvSpPr>
          <p:cNvPr id="15" name="Text 13"/>
          <p:cNvSpPr/>
          <p:nvPr/>
        </p:nvSpPr>
        <p:spPr>
          <a:xfrm>
            <a:off x="5029200" y="585216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84048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REALITY 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658368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 the failure modes before you ship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502920" y="178308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CEAE6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" y="2002536"/>
            <a:ext cx="621792" cy="621792"/>
          </a:xfrm>
          <a:prstGeom prst="ellipse">
            <a:avLst/>
          </a:prstGeom>
          <a:solidFill>
            <a:srgbClr val="FF7A6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54" y="2164202"/>
            <a:ext cx="298460" cy="2984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63040" y="19659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463040" y="22860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VLMs confidently describe things that aren't there. Never auto-trust on high-stakes calls.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45152" y="1783080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2002536"/>
            <a:ext cx="621792" cy="621792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986" y="2164202"/>
            <a:ext cx="298460" cy="2984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605272" y="19659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Weak spatial reasoning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5605272" y="228600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Counting, precise position and fine geometry are still unreliable.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02920" y="3163824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6F8FC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04088" y="3383280"/>
            <a:ext cx="621792" cy="621792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4" y="3544946"/>
            <a:ext cx="298460" cy="2984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463040" y="334670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OCR limits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1463040" y="366674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 on clean text, worse on dense tables, handwriting or tiny fonts.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645152" y="3163824"/>
            <a:ext cx="3977640" cy="1234440"/>
          </a:xfrm>
          <a:prstGeom prst="roundRect">
            <a:avLst>
              <a:gd name="adj" fmla="val 6667"/>
            </a:avLst>
          </a:prstGeom>
          <a:solidFill>
            <a:srgbClr val="FCEAE6"/>
          </a:solidFill>
          <a:effectLst>
            <a:outerShdw blurRad="88900" dist="25400" dir="5400000" algn="bl" rotWithShape="0">
              <a:srgbClr val="1A235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846320" y="3383280"/>
            <a:ext cx="621792" cy="621792"/>
          </a:xfrm>
          <a:prstGeom prst="ellipse">
            <a:avLst/>
          </a:prstGeom>
          <a:solidFill>
            <a:srgbClr val="FF7A66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986" y="3544946"/>
            <a:ext cx="298460" cy="2984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605272" y="334670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4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Bias &amp; safety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5605272" y="3666744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3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 biases carry through; test on your real population.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7A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pattern: keep a human in the loop, constrain outputs, and measure on your own data.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8549640" y="47365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39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3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B2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pixels to prompts, in one line each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A2350"/>
          </a:solidFill>
        </p:spPr>
      </p:sp>
      <p:sp>
        <p:nvSpPr>
          <p:cNvPr id="5" name="Shape 3"/>
          <p:cNvSpPr/>
          <p:nvPr/>
        </p:nvSpPr>
        <p:spPr>
          <a:xfrm>
            <a:off x="667512" y="1755648"/>
            <a:ext cx="548640" cy="548640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" y="189829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700784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all been one problem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44168" y="1975104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a grid of numbers into meaning — every method is a better answer.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45152" y="1572768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A2350"/>
          </a:solidFill>
        </p:spPr>
      </p:sp>
      <p:sp>
        <p:nvSpPr>
          <p:cNvPr id="10" name="Shape 7"/>
          <p:cNvSpPr/>
          <p:nvPr/>
        </p:nvSpPr>
        <p:spPr>
          <a:xfrm>
            <a:off x="4809744" y="1755648"/>
            <a:ext cx="548640" cy="548640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390" y="189829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700784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moved from hand to learned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0" y="1975104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&amp; Haar were designed; CNNs and ViTs learn features from data.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2624328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A2350"/>
          </a:solidFill>
        </p:spPr>
      </p:sp>
      <p:sp>
        <p:nvSpPr>
          <p:cNvPr id="15" name="Shape 11"/>
          <p:cNvSpPr/>
          <p:nvPr/>
        </p:nvSpPr>
        <p:spPr>
          <a:xfrm>
            <a:off x="667512" y="2807208"/>
            <a:ext cx="548640" cy="548640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294985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44168" y="2752344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CLIP was the hinge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44168" y="3026664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Aligning images with text is what let vision plug into language.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45152" y="2624328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A2350"/>
          </a:solidFill>
        </p:spPr>
      </p:sp>
      <p:sp>
        <p:nvSpPr>
          <p:cNvPr id="20" name="Shape 15"/>
          <p:cNvSpPr/>
          <p:nvPr/>
        </p:nvSpPr>
        <p:spPr>
          <a:xfrm>
            <a:off x="4809744" y="2807208"/>
            <a:ext cx="548640" cy="548640"/>
          </a:xfrm>
          <a:prstGeom prst="ellipse">
            <a:avLst/>
          </a:prstGeom>
          <a:solidFill>
            <a:srgbClr val="17B2A8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390" y="294985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752344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VLM = encoder + projector + LLM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0" y="3026664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one is mostly training the projector; the LLM stays intact.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3675888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A2350"/>
          </a:solidFill>
        </p:spPr>
      </p:sp>
      <p:sp>
        <p:nvSpPr>
          <p:cNvPr id="25" name="Shape 19"/>
          <p:cNvSpPr/>
          <p:nvPr/>
        </p:nvSpPr>
        <p:spPr>
          <a:xfrm>
            <a:off x="667512" y="3858768"/>
            <a:ext cx="548640" cy="548640"/>
          </a:xfrm>
          <a:prstGeom prst="ellipse">
            <a:avLst/>
          </a:prstGeom>
          <a:solidFill>
            <a:srgbClr val="5566E0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" y="400141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44168" y="3803904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 the cheap way first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44168" y="4078224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→ RAG → LoRA → full fine-tune, only as far as you must.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645152" y="3675888"/>
            <a:ext cx="3977640" cy="932688"/>
          </a:xfrm>
          <a:prstGeom prst="roundRect">
            <a:avLst>
              <a:gd name="adj" fmla="val 6863"/>
            </a:avLst>
          </a:prstGeom>
          <a:solidFill>
            <a:srgbClr val="1A2350"/>
          </a:solidFill>
        </p:spPr>
      </p:sp>
      <p:sp>
        <p:nvSpPr>
          <p:cNvPr id="30" name="Shape 23"/>
          <p:cNvSpPr/>
          <p:nvPr/>
        </p:nvSpPr>
        <p:spPr>
          <a:xfrm>
            <a:off x="4809744" y="3858768"/>
            <a:ext cx="548640" cy="548640"/>
          </a:xfrm>
          <a:prstGeom prst="ellipse">
            <a:avLst/>
          </a:prstGeom>
          <a:solidFill>
            <a:srgbClr val="F5A623"/>
          </a:solidFill>
          <a:effectLst>
            <a:outerShdw blurRad="76200" dist="25400" dir="5400000" algn="bl" rotWithShape="0">
              <a:srgbClr val="1A2350">
                <a:alpha val="12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2390" y="4001414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86400" y="3803904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before you trust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5486400" y="4078224"/>
            <a:ext cx="2990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9AA4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and weak spatial reasoning demand a human in the loop.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 ·  </a:t>
            </a:r>
            <a:r>
              <a:rPr lang="en-US" sz="1500" i="1" dirty="0">
                <a:solidFill>
                  <a:srgbClr val="F5A62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 &amp; discussion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18104</Words>
  <Application>WPS Presentation</Application>
  <PresentationFormat>On-screen Show (16:9)</PresentationFormat>
  <Paragraphs>1121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Pixels to Prompts: Building and Tuning VLMs</dc:title>
  <dc:creator>AI Consulting</dc:creator>
  <dc:subject>PptxGenJS Presentation</dc:subject>
  <cp:lastModifiedBy>Handri_Santoso</cp:lastModifiedBy>
  <cp:revision>2</cp:revision>
  <dcterms:created xsi:type="dcterms:W3CDTF">2026-07-02T15:00:00Z</dcterms:created>
  <dcterms:modified xsi:type="dcterms:W3CDTF">2026-07-02T15:38:08Z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1BE19AE839B9455D880BE8DD85703DED_12</vt:lpwstr>
  </property>
</Properties>
</file>